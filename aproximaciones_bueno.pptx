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73" r:id="rId11"/>
    <p:sldId id="274" r:id="rId12"/>
    <p:sldId id="27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5B103-B8A9-4807-8B93-0DC21FADC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F3C922-C725-48AC-822F-21154D301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FCB8B5-C9F4-4737-B6F9-A59B9523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E011B6-935A-435A-93A5-7262093E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E67419-1E58-48CC-AC34-9E36F453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64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B0154-C549-458A-81B2-4D4D3DB8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F0FED-2EFF-4E89-81CD-9CB8EB2AD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6FBE4C-5CC8-4252-A6CE-C496B0B2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2F5A28-C482-4940-AB67-6E46527C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80E02-4B38-4780-8393-4F01DADE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350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2C87-FBEF-4039-B22F-2FAFD5DCA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1B73CB-F28F-4126-84DE-CE1D7C1AE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49FD9-9F2A-4D5A-90E7-2C21BB92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E825AC-5B57-48B3-9F0D-C88302F0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EBA3B8-7973-4349-8854-351AC3F1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257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2EAD7-447A-4914-9E85-A053CA78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31F6D9-C556-4052-9154-A1660A93B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602FA3-D498-4599-AE3A-8B1AA9244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D37DE1-2660-4435-987F-79DD5C88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753B95-1641-4692-B290-AC9154EE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E67845-8C6D-438C-B8A6-069AD1FA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427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21BBF-FA2E-43B0-BF0B-E8705570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5FD338-9192-4D8A-B3F2-E7C0F3D3E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3543F-4B04-4B4F-BC5A-931A03F48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DB6BBE-6957-4F50-BDFC-3066A075B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B2862A-1FE9-4CBB-B2D2-D8CA5713A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E22959-40C6-4366-9302-C967F803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EDA2EB-B19F-4D48-AACC-BB81BABB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71113A-41FD-43CF-9244-B47A0685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800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5A592-3522-453E-BFAD-C2EE64D5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ED1FE9-F22F-40AE-80BB-F4EB73EB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67DC6C-0D09-4219-B122-999E4A79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D5ADBB-B7CB-42B7-8539-8E1DB46B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43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28C7DA-2845-49C5-89F5-D5518353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C6E0EE8-BBE8-42D5-944B-9BC6CD95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5AEFB8-20BC-493B-8D1B-EFDF4801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658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C6B17-5173-4785-B7D2-2BC9DF00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8E797D-6634-4E77-B6A6-8AF14D331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6A993-F83B-498A-8BA4-D0433BCAC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1F5A49-E68B-4A33-BEAC-5B176539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E7BF11-5CBC-47CC-93D6-5720642B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75EC66-6570-4C30-B1A6-B3F5828C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0525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724FA-68F4-4771-A5E9-71219941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2CEE3B-C65B-4EB7-BBB9-0A133F1FA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4F6C8F-3C36-4694-A5DE-FDA223273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C1C916-DF62-43FE-A8D4-DA62C7D6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CC12F4-A546-4038-B4B5-760A287A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257C48-CC65-4043-8025-0FAF6684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153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EB78C-D391-41A9-A2B5-02771200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815AD2-E783-42B3-9D27-897F36398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C342D7-8DD5-48E3-9004-E43F486C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D25001-32FD-4515-8270-6BA91997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C9E465-E776-4610-81C3-79FA6323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04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0F1599-B5B3-436B-B045-997FBACF3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0E68E6-EBD1-49C0-85B6-A596AC68E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B8DB29-66A3-4382-A562-2945A550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E6674D-E2D4-4EEC-82FF-D190EBAD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959838-4486-4D72-8682-1C7D434C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374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023C48-BF63-43FC-BCA4-C7B1142A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F8D45B-47B5-4FF0-BBEB-6BBFB765A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298D23-0F4F-41DA-9DD7-737282938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976E3-D1A2-4363-B674-0C60713E2AB2}" type="datetimeFigureOut">
              <a:rPr lang="es-MX" smtClean="0"/>
              <a:t>21/04/2026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4A1514-2F78-4856-8D88-46CFC8120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F4B76-BF92-4355-B400-64E7670B9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F02E3-58EA-4E2F-996F-A45B08B44C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00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png"/><Relationship Id="rId1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7.png"/><Relationship Id="rId2" Type="http://schemas.openxmlformats.org/officeDocument/2006/relationships/image" Target="../media/image1.jpe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png"/><Relationship Id="rId1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7.png"/><Relationship Id="rId2" Type="http://schemas.openxmlformats.org/officeDocument/2006/relationships/image" Target="../media/image1.jpe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9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3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4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5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.jpe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4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microsoft.com/office/2007/relationships/hdphoto" Target="../media/hdphoto1.wdp"/><Relationship Id="rId9" Type="http://schemas.openxmlformats.org/officeDocument/2006/relationships/image" Target="../media/image40.png"/><Relationship Id="rId14" Type="http://schemas.openxmlformats.org/officeDocument/2006/relationships/image" Target="../media/image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63" y="2385874"/>
            <a:ext cx="5745272" cy="208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2079" y="4725068"/>
            <a:ext cx="4307840" cy="1291683"/>
          </a:xfrm>
        </p:spPr>
        <p:txBody>
          <a:bodyPr>
            <a:noAutofit/>
          </a:bodyPr>
          <a:lstStyle/>
          <a:p>
            <a:r>
              <a:rPr lang="es-MX" sz="4000" b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FCBECB4-1FFC-41B9-9359-F244F4649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6" y="0"/>
            <a:ext cx="2260364" cy="212596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71909BD-095E-448C-86BF-5CCC102CC038}"/>
              </a:ext>
            </a:extLst>
          </p:cNvPr>
          <p:cNvSpPr txBox="1"/>
          <p:nvPr/>
        </p:nvSpPr>
        <p:spPr>
          <a:xfrm>
            <a:off x="-10030913" y="1951672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2483185-9255-4EBB-B2E2-E672370CA45E}"/>
              </a:ext>
            </a:extLst>
          </p:cNvPr>
          <p:cNvSpPr/>
          <p:nvPr/>
        </p:nvSpPr>
        <p:spPr>
          <a:xfrm>
            <a:off x="-7274684" y="2598003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3884539-7173-4966-93AA-E627371A407B}"/>
              </a:ext>
            </a:extLst>
          </p:cNvPr>
          <p:cNvSpPr/>
          <p:nvPr/>
        </p:nvSpPr>
        <p:spPr>
          <a:xfrm>
            <a:off x="-6227111" y="3429000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82BC13-14D1-488D-A4B8-268C39B09AA7}"/>
              </a:ext>
            </a:extLst>
          </p:cNvPr>
          <p:cNvSpPr/>
          <p:nvPr/>
        </p:nvSpPr>
        <p:spPr>
          <a:xfrm>
            <a:off x="-2451707" y="4219527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</p:spTree>
    <p:extLst>
      <p:ext uri="{BB962C8B-B14F-4D97-AF65-F5344CB8AC3E}">
        <p14:creationId xmlns:p14="http://schemas.microsoft.com/office/powerpoint/2010/main" val="619872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8511" y="743479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1087487" y="1951672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3843716" y="2598003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4891289" y="3429000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8666693" y="4219527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</p:spTree>
    <p:extLst>
      <p:ext uri="{BB962C8B-B14F-4D97-AF65-F5344CB8AC3E}">
        <p14:creationId xmlns:p14="http://schemas.microsoft.com/office/powerpoint/2010/main" val="1349437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8511" y="743479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50B91CC-742A-41F4-80D0-B7F8D59AFDE6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50B91CC-742A-41F4-80D0-B7F8D59AF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6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blipFill>
                <a:blip r:embed="rId7"/>
                <a:stretch>
                  <a:fillRect l="-2548" t="-4444" r="-1699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Nube 18">
            <a:extLst>
              <a:ext uri="{FF2B5EF4-FFF2-40B4-BE49-F238E27FC236}">
                <a16:creationId xmlns:a16="http://schemas.microsoft.com/office/drawing/2014/main" id="{4B1B48E2-463B-4A62-B900-9BFACEAF5604}"/>
              </a:ext>
            </a:extLst>
          </p:cNvPr>
          <p:cNvSpPr/>
          <p:nvPr/>
        </p:nvSpPr>
        <p:spPr>
          <a:xfrm>
            <a:off x="4082579" y="1951630"/>
            <a:ext cx="3962400" cy="1656166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EF68297-9367-429F-A538-7BCA972579B3}"/>
              </a:ext>
            </a:extLst>
          </p:cNvPr>
          <p:cNvSpPr txBox="1"/>
          <p:nvPr/>
        </p:nvSpPr>
        <p:spPr>
          <a:xfrm>
            <a:off x="4908007" y="2223271"/>
            <a:ext cx="2891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hasta encontrar el cambio de signo</a:t>
            </a:r>
          </a:p>
        </p:txBody>
      </p:sp>
      <p:sp>
        <p:nvSpPr>
          <p:cNvPr id="21" name="Flecha izquierda 4">
            <a:extLst>
              <a:ext uri="{FF2B5EF4-FFF2-40B4-BE49-F238E27FC236}">
                <a16:creationId xmlns:a16="http://schemas.microsoft.com/office/drawing/2014/main" id="{CCCDD5D0-34A9-4A69-A4E3-8F924D42ACB5}"/>
              </a:ext>
            </a:extLst>
          </p:cNvPr>
          <p:cNvSpPr/>
          <p:nvPr/>
        </p:nvSpPr>
        <p:spPr>
          <a:xfrm>
            <a:off x="3493299" y="2916915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630AD170-19C5-48E8-B80C-F6BEB6326995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630AD170-19C5-48E8-B80C-F6BEB6326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02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2243" y="570590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blipFill>
                <a:blip r:embed="rId7"/>
                <a:stretch>
                  <a:fillRect l="-2548" t="-4444" r="-1699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FCC4FEC-1D43-44D0-B233-FDC75DCBD258}"/>
              </a:ext>
            </a:extLst>
          </p:cNvPr>
          <p:cNvSpPr txBox="1"/>
          <p:nvPr/>
        </p:nvSpPr>
        <p:spPr>
          <a:xfrm>
            <a:off x="4528452" y="2388599"/>
            <a:ext cx="2891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estos valores en la ecuación de la pendiente</a:t>
            </a:r>
          </a:p>
        </p:txBody>
      </p:sp>
      <p:sp>
        <p:nvSpPr>
          <p:cNvPr id="25" name="Flecha izquierda 4">
            <a:extLst>
              <a:ext uri="{FF2B5EF4-FFF2-40B4-BE49-F238E27FC236}">
                <a16:creationId xmlns:a16="http://schemas.microsoft.com/office/drawing/2014/main" id="{A8D117FA-60EB-44AB-806B-E0E8F3AA821A}"/>
              </a:ext>
            </a:extLst>
          </p:cNvPr>
          <p:cNvSpPr/>
          <p:nvPr/>
        </p:nvSpPr>
        <p:spPr>
          <a:xfrm rot="19960916">
            <a:off x="3401122" y="304893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Flecha izquierda 12">
            <a:extLst>
              <a:ext uri="{FF2B5EF4-FFF2-40B4-BE49-F238E27FC236}">
                <a16:creationId xmlns:a16="http://schemas.microsoft.com/office/drawing/2014/main" id="{8A882D01-19FF-491D-882A-EE855ADFE635}"/>
              </a:ext>
            </a:extLst>
          </p:cNvPr>
          <p:cNvSpPr/>
          <p:nvPr/>
        </p:nvSpPr>
        <p:spPr>
          <a:xfrm rot="10800000">
            <a:off x="7486632" y="2298962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/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blipFill>
                <a:blip r:embed="rId8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/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29B7CC0-EAA2-4395-9848-601499759571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29B7CC0-EAA2-4395-9848-601499759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0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C26C6DBC-5868-4F08-8114-A2371C40B759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C26C6DBC-5868-4F08-8114-A2371C40B7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727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9755" y="516245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blipFill>
                <a:blip r:embed="rId7"/>
                <a:stretch>
                  <a:fillRect l="-2548" t="-4444" r="-1699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5" name="Flecha izquierda 4">
            <a:extLst>
              <a:ext uri="{FF2B5EF4-FFF2-40B4-BE49-F238E27FC236}">
                <a16:creationId xmlns:a16="http://schemas.microsoft.com/office/drawing/2014/main" id="{A8D117FA-60EB-44AB-806B-E0E8F3AA821A}"/>
              </a:ext>
            </a:extLst>
          </p:cNvPr>
          <p:cNvSpPr/>
          <p:nvPr/>
        </p:nvSpPr>
        <p:spPr>
          <a:xfrm rot="20866512">
            <a:off x="3655990" y="2836055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Flecha izquierda 12">
            <a:extLst>
              <a:ext uri="{FF2B5EF4-FFF2-40B4-BE49-F238E27FC236}">
                <a16:creationId xmlns:a16="http://schemas.microsoft.com/office/drawing/2014/main" id="{8A882D01-19FF-491D-882A-EE855ADFE635}"/>
              </a:ext>
            </a:extLst>
          </p:cNvPr>
          <p:cNvSpPr/>
          <p:nvPr/>
        </p:nvSpPr>
        <p:spPr>
          <a:xfrm rot="10800000">
            <a:off x="7486632" y="2298962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/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blipFill>
                <a:blip r:embed="rId8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/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95D6881-3AB2-4E47-94D3-8276A13B6DBB}"/>
                  </a:ext>
                </a:extLst>
              </p:cNvPr>
              <p:cNvSpPr txBox="1"/>
              <p:nvPr/>
            </p:nvSpPr>
            <p:spPr>
              <a:xfrm>
                <a:off x="10083123" y="2995107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95D6881-3AB2-4E47-94D3-8276A13B6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123" y="2995107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464" r="-8036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712A6A4E-EC82-4801-941C-AF807E12C53E}"/>
              </a:ext>
            </a:extLst>
          </p:cNvPr>
          <p:cNvSpPr txBox="1"/>
          <p:nvPr/>
        </p:nvSpPr>
        <p:spPr>
          <a:xfrm>
            <a:off x="4146879" y="2310246"/>
            <a:ext cx="2891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estos valores en la ecuación de la pendiente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FFADE000-DDA9-4AE0-A4DF-3B2EEACA0AE4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FFADE000-DDA9-4AE0-A4DF-3B2EEACA0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1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6C7A3321-59C2-49C1-B12E-AC9725089C5F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6C7A3321-59C2-49C1-B12E-AC9725089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529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2243" y="570590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blipFill>
                <a:blip r:embed="rId7"/>
                <a:stretch>
                  <a:fillRect l="-2548" t="-4444" r="-1699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FCC4FEC-1D43-44D0-B233-FDC75DCBD258}"/>
              </a:ext>
            </a:extLst>
          </p:cNvPr>
          <p:cNvSpPr txBox="1"/>
          <p:nvPr/>
        </p:nvSpPr>
        <p:spPr>
          <a:xfrm>
            <a:off x="4146879" y="2310246"/>
            <a:ext cx="2891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estos valores en la ecuación de la pendiente</a:t>
            </a:r>
          </a:p>
        </p:txBody>
      </p:sp>
      <p:sp>
        <p:nvSpPr>
          <p:cNvPr id="26" name="Flecha izquierda 12">
            <a:extLst>
              <a:ext uri="{FF2B5EF4-FFF2-40B4-BE49-F238E27FC236}">
                <a16:creationId xmlns:a16="http://schemas.microsoft.com/office/drawing/2014/main" id="{8A882D01-19FF-491D-882A-EE855ADFE635}"/>
              </a:ext>
            </a:extLst>
          </p:cNvPr>
          <p:cNvSpPr/>
          <p:nvPr/>
        </p:nvSpPr>
        <p:spPr>
          <a:xfrm rot="10800000">
            <a:off x="7486632" y="2298962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/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3EDB4E9-B94A-4165-859A-64466348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305" y="2128785"/>
                <a:ext cx="1294200" cy="519629"/>
              </a:xfrm>
              <a:prstGeom prst="rect">
                <a:avLst/>
              </a:prstGeom>
              <a:blipFill>
                <a:blip r:embed="rId8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/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9CD784-3D20-4B93-BC2E-76442A588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967" y="2869785"/>
                <a:ext cx="1461106" cy="5276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95D6881-3AB2-4E47-94D3-8276A13B6DBB}"/>
                  </a:ext>
                </a:extLst>
              </p:cNvPr>
              <p:cNvSpPr txBox="1"/>
              <p:nvPr/>
            </p:nvSpPr>
            <p:spPr>
              <a:xfrm>
                <a:off x="10083123" y="2995107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95D6881-3AB2-4E47-94D3-8276A13B6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123" y="2995107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464" r="-8036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19FE4CDF-F611-4A8A-AD36-C64082D9C7CE}"/>
              </a:ext>
            </a:extLst>
          </p:cNvPr>
          <p:cNvSpPr txBox="1"/>
          <p:nvPr/>
        </p:nvSpPr>
        <p:spPr>
          <a:xfrm>
            <a:off x="15322425" y="3741423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7CB5C17-97CD-472E-8FED-D8507C3BFE25}"/>
                  </a:ext>
                </a:extLst>
              </p:cNvPr>
              <p:cNvSpPr txBox="1"/>
              <p:nvPr/>
            </p:nvSpPr>
            <p:spPr>
              <a:xfrm>
                <a:off x="13246226" y="3325909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7CB5C17-97CD-472E-8FED-D8507C3BF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226" y="3325909"/>
                <a:ext cx="1888017" cy="5357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lecha izquierda 4">
            <a:extLst>
              <a:ext uri="{FF2B5EF4-FFF2-40B4-BE49-F238E27FC236}">
                <a16:creationId xmlns:a16="http://schemas.microsoft.com/office/drawing/2014/main" id="{5CF9A269-4CFB-4619-B836-0F8BAD69B447}"/>
              </a:ext>
            </a:extLst>
          </p:cNvPr>
          <p:cNvSpPr/>
          <p:nvPr/>
        </p:nvSpPr>
        <p:spPr>
          <a:xfrm rot="20866512">
            <a:off x="3655990" y="2836055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C33083C-B9A6-43A6-A813-296F5A04AB67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C33083C-B9A6-43A6-A813-296F5A04A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2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FD5D95C7-B6E3-4ECE-B4C2-1AEA222F7639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FD5D95C7-B6E3-4ECE-B4C2-1AEA222F7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614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9775" y="1075063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325909"/>
                <a:ext cx="2876108" cy="276999"/>
              </a:xfrm>
              <a:prstGeom prst="rect">
                <a:avLst/>
              </a:prstGeom>
              <a:blipFill>
                <a:blip r:embed="rId7"/>
                <a:stretch>
                  <a:fillRect l="-2548" t="-4444" r="-1699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8142681" y="3252753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7700339" y="3237235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5675715" y="1940144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715" y="1940144"/>
                <a:ext cx="1294200" cy="519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0623380" y="335190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5666377" y="2681144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377" y="2681144"/>
                <a:ext cx="1461106" cy="5276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9826739" y="2580316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739" y="2580316"/>
                <a:ext cx="1888017" cy="5357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7435466" y="2803156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466" y="2803156"/>
                <a:ext cx="680443" cy="276999"/>
              </a:xfrm>
              <a:prstGeom prst="rect">
                <a:avLst/>
              </a:prstGeom>
              <a:blipFill>
                <a:blip r:embed="rId11"/>
                <a:stretch>
                  <a:fillRect l="-4505" r="-8108"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A0A8747-163E-4EC6-938F-A6C3DD1976B3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A0A8747-163E-4EC6-938F-A6C3DD19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2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C05D18A1-2321-40B2-9682-8B49DDBC421A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C05D18A1-2321-40B2-9682-8B49DDBC42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74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842157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842157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10450524" y="2956434"/>
                <a:ext cx="5806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524" y="2956434"/>
                <a:ext cx="58060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C4EF20A1-AC63-48C2-AD07-28966D246FA3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C4EF20A1-AC63-48C2-AD07-28966D24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C87EABF1-ECE9-476A-BA4F-61030426BAC7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C87EABF1-ECE9-476A-BA4F-61030426B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79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3720585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3720585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31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7519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7519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/>
              <p:nvPr/>
            </p:nvSpPr>
            <p:spPr>
              <a:xfrm>
                <a:off x="533276" y="5900147"/>
                <a:ext cx="2374175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4.5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6∗4.5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76" y="5900147"/>
                <a:ext cx="2374175" cy="53751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507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076230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076230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/>
              <p:nvPr/>
            </p:nvSpPr>
            <p:spPr>
              <a:xfrm>
                <a:off x="3024144" y="6069263"/>
                <a:ext cx="13814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dirty="0"/>
                        <m:t>4.35416667</m:t>
                      </m:r>
                    </m:oMath>
                  </m:oMathPara>
                </a14:m>
                <a:endParaRPr lang="es-MX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44" y="6069263"/>
                <a:ext cx="1381440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B34E7D1A-5DAD-4E25-9593-0EB2FE7B455B}"/>
              </a:ext>
            </a:extLst>
          </p:cNvPr>
          <p:cNvSpPr/>
          <p:nvPr/>
        </p:nvSpPr>
        <p:spPr>
          <a:xfrm>
            <a:off x="3168795" y="6074853"/>
            <a:ext cx="12955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dirty="0"/>
              <a:t>4.35416667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673C8EE-0899-4965-894A-733E717A2AFB}"/>
                  </a:ext>
                </a:extLst>
              </p:cNvPr>
              <p:cNvSpPr txBox="1"/>
              <p:nvPr/>
            </p:nvSpPr>
            <p:spPr>
              <a:xfrm>
                <a:off x="518807" y="5898125"/>
                <a:ext cx="2374175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4.5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6∗4.5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673C8EE-0899-4965-894A-733E717A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07" y="5898125"/>
                <a:ext cx="2374175" cy="53751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2E80F46-0643-4E4B-8C37-4539C3C85C49}"/>
                  </a:ext>
                </a:extLst>
              </p:cNvPr>
              <p:cNvSpPr txBox="1"/>
              <p:nvPr/>
            </p:nvSpPr>
            <p:spPr>
              <a:xfrm>
                <a:off x="2901572" y="6064739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2E80F46-0643-4E4B-8C37-4539C3C85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72" y="6064739"/>
                <a:ext cx="226023" cy="276999"/>
              </a:xfrm>
              <a:prstGeom prst="rect">
                <a:avLst/>
              </a:prstGeom>
              <a:blipFill>
                <a:blip r:embed="rId18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58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656182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656182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18306"/>
                <a:ext cx="50045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62A5550-0EBB-4EC5-9B92-2AFD7EE5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A70585D-2457-4610-89CE-B172C1122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/>
              <p:nvPr/>
            </p:nvSpPr>
            <p:spPr>
              <a:xfrm>
                <a:off x="3024144" y="6069263"/>
                <a:ext cx="13814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dirty="0"/>
                        <m:t>4.35416667</m:t>
                      </m:r>
                    </m:oMath>
                  </m:oMathPara>
                </a14:m>
                <a:endParaRPr lang="es-MX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CF477A-0EB1-48C0-9F67-BF35896E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144" y="6069263"/>
                <a:ext cx="1381440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B34E7D1A-5DAD-4E25-9593-0EB2FE7B455B}"/>
              </a:ext>
            </a:extLst>
          </p:cNvPr>
          <p:cNvSpPr/>
          <p:nvPr/>
        </p:nvSpPr>
        <p:spPr>
          <a:xfrm>
            <a:off x="6729991" y="4300608"/>
            <a:ext cx="12955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1400" dirty="0">
                <a:solidFill>
                  <a:schemeClr val="dk1"/>
                </a:solidFill>
              </a:rPr>
              <a:t>4.35416667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673C8EE-0899-4965-894A-733E717A2AFB}"/>
                  </a:ext>
                </a:extLst>
              </p:cNvPr>
              <p:cNvSpPr txBox="1"/>
              <p:nvPr/>
            </p:nvSpPr>
            <p:spPr>
              <a:xfrm>
                <a:off x="518807" y="5898125"/>
                <a:ext cx="2374175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4.5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6∗4.5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673C8EE-0899-4965-894A-733E717A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07" y="5898125"/>
                <a:ext cx="2374175" cy="53751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2E80F46-0643-4E4B-8C37-4539C3C85C49}"/>
                  </a:ext>
                </a:extLst>
              </p:cNvPr>
              <p:cNvSpPr txBox="1"/>
              <p:nvPr/>
            </p:nvSpPr>
            <p:spPr>
              <a:xfrm>
                <a:off x="2901572" y="6064739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2E80F46-0643-4E4B-8C37-4539C3C85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72" y="6064739"/>
                <a:ext cx="226023" cy="276999"/>
              </a:xfrm>
              <a:prstGeom prst="rect">
                <a:avLst/>
              </a:prstGeom>
              <a:blipFill>
                <a:blip r:embed="rId18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164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52263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52263"/>
                  </p:ext>
                </p:extLst>
              </p:nvPr>
            </p:nvGraphicFramePr>
            <p:xfrm>
              <a:off x="2189381" y="4012528"/>
              <a:ext cx="7216651" cy="5035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14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6620148" y="4260680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2D6CCC9-18A9-48C8-B367-A6DFF28A428B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2D6CCC9-18A9-48C8-B367-A6DFF28A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A693BB96-4E79-4847-906C-533F8E777BF3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A693BB96-4E79-4847-906C-533F8E777B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A7F0D2A-5F4C-48C6-89F6-A51F188B6CD4}"/>
                  </a:ext>
                </a:extLst>
              </p:cNvPr>
              <p:cNvSpPr txBox="1"/>
              <p:nvPr/>
            </p:nvSpPr>
            <p:spPr>
              <a:xfrm>
                <a:off x="-4213524" y="6128305"/>
                <a:ext cx="4175884" cy="814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0.875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6∗4.5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dirty="0"/>
                        <m:t>4.35416667</m:t>
                      </m:r>
                    </m:oMath>
                  </m:oMathPara>
                </a14:m>
                <a:endParaRPr lang="es-MX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A7F0D2A-5F4C-48C6-89F6-A51F188B6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3524" y="6128305"/>
                <a:ext cx="4175884" cy="8145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97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909886"/>
                  </p:ext>
                </p:extLst>
              </p:nvPr>
            </p:nvGraphicFramePr>
            <p:xfrm>
              <a:off x="2189381" y="4012528"/>
              <a:ext cx="7216651" cy="75528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u="none" strike="noStrike" dirty="0">
                            <a:effectLst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909886"/>
                  </p:ext>
                </p:extLst>
              </p:nvPr>
            </p:nvGraphicFramePr>
            <p:xfrm>
              <a:off x="2189381" y="4012528"/>
              <a:ext cx="7216651" cy="75528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u="none" strike="noStrike" dirty="0">
                            <a:effectLst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3F38B0D-D743-44D4-87FA-7A8E1D274AC4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3F38B0D-D743-44D4-87FA-7A8E1D274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630478DE-BFAC-491D-8A10-F6C964EA6854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630478DE-BFAC-491D-8A10-F6C964EA6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398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5746946"/>
                  </p:ext>
                </p:extLst>
              </p:nvPr>
            </p:nvGraphicFramePr>
            <p:xfrm>
              <a:off x="2189381" y="4012528"/>
              <a:ext cx="7216651" cy="75528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5746946"/>
                  </p:ext>
                </p:extLst>
              </p:nvPr>
            </p:nvGraphicFramePr>
            <p:xfrm>
              <a:off x="2189381" y="4012528"/>
              <a:ext cx="7216651" cy="75528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2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556EBF-7CE5-4CAA-97DD-8A3FBB3B1546}"/>
              </a:ext>
            </a:extLst>
          </p:cNvPr>
          <p:cNvSpPr/>
          <p:nvPr/>
        </p:nvSpPr>
        <p:spPr>
          <a:xfrm>
            <a:off x="6627050" y="450475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DD7CBF4-EC7F-4A7F-9D4A-9E60BC7ED33A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DD7CBF4-EC7F-4A7F-9D4A-9E60BC7ED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845DC5D9-E2FA-4B92-A8D9-08DBB7A13B45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845DC5D9-E2FA-4B92-A8D9-08DBB7A13B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988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753010"/>
                  </p:ext>
                </p:extLst>
              </p:nvPr>
            </p:nvGraphicFramePr>
            <p:xfrm>
              <a:off x="2189381" y="4012528"/>
              <a:ext cx="7216651" cy="10070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753010"/>
                  </p:ext>
                </p:extLst>
              </p:nvPr>
            </p:nvGraphicFramePr>
            <p:xfrm>
              <a:off x="2189381" y="4012528"/>
              <a:ext cx="7216651" cy="10070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A06A098-33C9-4399-9BCE-956DCE146B9F}"/>
              </a:ext>
            </a:extLst>
          </p:cNvPr>
          <p:cNvSpPr/>
          <p:nvPr/>
        </p:nvSpPr>
        <p:spPr>
          <a:xfrm>
            <a:off x="6627050" y="450475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76393D-6B7F-457B-8DF5-68C169478253}"/>
              </a:ext>
            </a:extLst>
          </p:cNvPr>
          <p:cNvSpPr/>
          <p:nvPr/>
        </p:nvSpPr>
        <p:spPr>
          <a:xfrm>
            <a:off x="3607666" y="4753424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D98857C-AC61-4D75-9873-ECAE7F4C1345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D98857C-AC61-4D75-9873-ECAE7F4C1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EFCB88FB-FA7B-407E-B326-FE00ED9C2452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EFCB88FB-FA7B-407E-B326-FE00ED9C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54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A8A2B00-3532-443D-B1EB-282D5F82751A}"/>
              </a:ext>
            </a:extLst>
          </p:cNvPr>
          <p:cNvSpPr txBox="1"/>
          <p:nvPr/>
        </p:nvSpPr>
        <p:spPr>
          <a:xfrm>
            <a:off x="12742130" y="3326372"/>
            <a:ext cx="2505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Sustituimos este valor de 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ecuación de  recurrencia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 rot="13391493">
            <a:off x="13222121" y="2410176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4917"/>
                  </p:ext>
                </p:extLst>
              </p:nvPr>
            </p:nvGraphicFramePr>
            <p:xfrm>
              <a:off x="2189381" y="4012528"/>
              <a:ext cx="7216651" cy="10070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4917"/>
                  </p:ext>
                </p:extLst>
              </p:nvPr>
            </p:nvGraphicFramePr>
            <p:xfrm>
              <a:off x="2189381" y="4012528"/>
              <a:ext cx="7216651" cy="100704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510" t="-7143" r="-505612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79757" t="-7143" r="-3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179757" t="-7143" r="-2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blipFill>
                          <a:blip r:embed="rId11"/>
                          <a:stretch>
                            <a:fillRect l="-279757" t="-7143" r="-101215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A06A098-33C9-4399-9BCE-956DCE146B9F}"/>
              </a:ext>
            </a:extLst>
          </p:cNvPr>
          <p:cNvSpPr/>
          <p:nvPr/>
        </p:nvSpPr>
        <p:spPr>
          <a:xfrm>
            <a:off x="6627050" y="450475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76393D-6B7F-457B-8DF5-68C169478253}"/>
              </a:ext>
            </a:extLst>
          </p:cNvPr>
          <p:cNvSpPr/>
          <p:nvPr/>
        </p:nvSpPr>
        <p:spPr>
          <a:xfrm>
            <a:off x="3607666" y="4753424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995E526-189B-49FA-A367-E525759F862D}"/>
              </a:ext>
            </a:extLst>
          </p:cNvPr>
          <p:cNvSpPr/>
          <p:nvPr/>
        </p:nvSpPr>
        <p:spPr>
          <a:xfrm>
            <a:off x="6621615" y="476223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4.32697223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1B42FE6-9375-43F4-86FF-090A01EB0D18}"/>
              </a:ext>
            </a:extLst>
          </p:cNvPr>
          <p:cNvSpPr txBox="1"/>
          <p:nvPr/>
        </p:nvSpPr>
        <p:spPr>
          <a:xfrm>
            <a:off x="12976505" y="4553369"/>
            <a:ext cx="2644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detenemos cuando el error nos marque un valor menor a 0.01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5BC3BBC-69BB-4242-B954-32841634B64A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5BC3BBC-69BB-4242-B954-32841634B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913E0B0F-A142-4F8F-98FC-B9F8443D5328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913E0B0F-A142-4F8F-98FC-B9F8443D53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11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>
            <a:off x="9464463" y="4979408"/>
            <a:ext cx="661925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7031125">
            <a:off x="15290725" y="2794979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759072"/>
                  </p:ext>
                </p:extLst>
              </p:nvPr>
            </p:nvGraphicFramePr>
            <p:xfrm>
              <a:off x="2189381" y="4012528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759072"/>
                  </p:ext>
                </p:extLst>
              </p:nvPr>
            </p:nvGraphicFramePr>
            <p:xfrm>
              <a:off x="2189381" y="4012528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10" t="-7317" r="-505612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79757" t="-7317" r="-3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79757" t="-7317" r="-2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79757" t="-7317" r="-1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A06A098-33C9-4399-9BCE-956DCE146B9F}"/>
              </a:ext>
            </a:extLst>
          </p:cNvPr>
          <p:cNvSpPr/>
          <p:nvPr/>
        </p:nvSpPr>
        <p:spPr>
          <a:xfrm>
            <a:off x="6627050" y="450475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76393D-6B7F-457B-8DF5-68C169478253}"/>
              </a:ext>
            </a:extLst>
          </p:cNvPr>
          <p:cNvSpPr/>
          <p:nvPr/>
        </p:nvSpPr>
        <p:spPr>
          <a:xfrm>
            <a:off x="3607666" y="4753424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995E526-189B-49FA-A367-E525759F862D}"/>
              </a:ext>
            </a:extLst>
          </p:cNvPr>
          <p:cNvSpPr/>
          <p:nvPr/>
        </p:nvSpPr>
        <p:spPr>
          <a:xfrm>
            <a:off x="3613239" y="499998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4.32697223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3AE134-161A-4FDB-BF63-9130492C48B8}"/>
              </a:ext>
            </a:extLst>
          </p:cNvPr>
          <p:cNvSpPr txBox="1"/>
          <p:nvPr/>
        </p:nvSpPr>
        <p:spPr>
          <a:xfrm>
            <a:off x="9576785" y="3974706"/>
            <a:ext cx="2644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detenemos cuando el error nos marque un valor menor a 0.01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3195508-EC14-4B33-A2FB-DF4D37DD0119}"/>
              </a:ext>
            </a:extLst>
          </p:cNvPr>
          <p:cNvSpPr txBox="1"/>
          <p:nvPr/>
        </p:nvSpPr>
        <p:spPr>
          <a:xfrm>
            <a:off x="5916808" y="6933556"/>
            <a:ext cx="264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 de la ecuación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E68AA74C-AAE6-4451-8A06-9A4274755277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E68AA74C-AAE6-4451-8A06-9A4274755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02229387-D547-4E9A-BB5A-5C74B91DD277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02229387-D547-4E9A-BB5A-5C74B91DD2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348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3166108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8" t="-4348" r="-1699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>
            <a:off x="9464463" y="4979408"/>
            <a:ext cx="661925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832" y="1429912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5400000">
            <a:off x="6860840" y="5468384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43" y="1352076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860" y="2021120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8509" y="1501952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89381" y="4012528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189381" y="4012528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10" t="-7317" r="-505612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79757" t="-7317" r="-3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79757" t="-7317" r="-2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79757" t="-7317" r="-101215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42" y="2864120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420" y="4264026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3607666" y="44872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A06A098-33C9-4399-9BCE-956DCE146B9F}"/>
              </a:ext>
            </a:extLst>
          </p:cNvPr>
          <p:cNvSpPr/>
          <p:nvPr/>
        </p:nvSpPr>
        <p:spPr>
          <a:xfrm>
            <a:off x="6627050" y="450475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76393D-6B7F-457B-8DF5-68C169478253}"/>
              </a:ext>
            </a:extLst>
          </p:cNvPr>
          <p:cNvSpPr/>
          <p:nvPr/>
        </p:nvSpPr>
        <p:spPr>
          <a:xfrm>
            <a:off x="3607666" y="4753424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995E526-189B-49FA-A367-E525759F862D}"/>
              </a:ext>
            </a:extLst>
          </p:cNvPr>
          <p:cNvSpPr/>
          <p:nvPr/>
        </p:nvSpPr>
        <p:spPr>
          <a:xfrm>
            <a:off x="3613239" y="499998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4.32697223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3AE134-161A-4FDB-BF63-9130492C48B8}"/>
              </a:ext>
            </a:extLst>
          </p:cNvPr>
          <p:cNvSpPr txBox="1"/>
          <p:nvPr/>
        </p:nvSpPr>
        <p:spPr>
          <a:xfrm>
            <a:off x="9576785" y="3974706"/>
            <a:ext cx="2644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detenemos cuando el error nos marque un valor menor a 0.01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3195508-EC14-4B33-A2FB-DF4D37DD0119}"/>
              </a:ext>
            </a:extLst>
          </p:cNvPr>
          <p:cNvSpPr txBox="1"/>
          <p:nvPr/>
        </p:nvSpPr>
        <p:spPr>
          <a:xfrm>
            <a:off x="5797706" y="6053783"/>
            <a:ext cx="264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 de la ecuación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20785DC0-E302-4E96-B255-6B707282512A}"/>
                  </a:ext>
                </a:extLst>
              </p:cNvPr>
              <p:cNvSpPr txBox="1"/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20785DC0-E302-4E96-B255-6B7072825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2223271"/>
                <a:ext cx="3049233" cy="276999"/>
              </a:xfrm>
              <a:prstGeom prst="rect">
                <a:avLst/>
              </a:prstGeom>
              <a:blipFill>
                <a:blip r:embed="rId14"/>
                <a:stretch>
                  <a:fillRect l="-2200" t="-4444" r="-14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95055555-118C-4C00-8F01-44007E5906BA}"/>
                  </a:ext>
                </a:extLst>
              </p:cNvPr>
              <p:cNvSpPr/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95055555-118C-4C00-8F01-44007E590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7" y="2681878"/>
                <a:ext cx="32338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322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39C69A1-1173-4128-9327-FFD11441D0A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custGeom>
            <a:avLst/>
            <a:gdLst>
              <a:gd name="connsiteX0" fmla="*/ 142043 w 12192000"/>
              <a:gd name="connsiteY0" fmla="*/ 150920 h 6858000"/>
              <a:gd name="connsiteX1" fmla="*/ 142043 w 12192000"/>
              <a:gd name="connsiteY1" fmla="*/ 6764784 h 6858000"/>
              <a:gd name="connsiteX2" fmla="*/ 12055876 w 12192000"/>
              <a:gd name="connsiteY2" fmla="*/ 6764784 h 6858000"/>
              <a:gd name="connsiteX3" fmla="*/ 12055876 w 12192000"/>
              <a:gd name="connsiteY3" fmla="*/ 15092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42043" y="150920"/>
                </a:moveTo>
                <a:lnTo>
                  <a:pt x="142043" y="6764784"/>
                </a:lnTo>
                <a:lnTo>
                  <a:pt x="12055876" y="6764784"/>
                </a:lnTo>
                <a:lnTo>
                  <a:pt x="12055876" y="15092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2" descr="SIFI Nómina: TESI IXTAPALUCA">
            <a:extLst>
              <a:ext uri="{FF2B5EF4-FFF2-40B4-BE49-F238E27FC236}">
                <a16:creationId xmlns:a16="http://schemas.microsoft.com/office/drawing/2014/main" id="{A543D826-28A6-40EF-8AC0-FFB23F8EF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" y="159797"/>
            <a:ext cx="2124215" cy="77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EE24ED1C-C047-4E59-96E5-89B3A96E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9657" y="6365574"/>
            <a:ext cx="2902342" cy="399211"/>
          </a:xfrm>
        </p:spPr>
        <p:txBody>
          <a:bodyPr>
            <a:noAutofit/>
          </a:bodyPr>
          <a:lstStyle/>
          <a:p>
            <a:r>
              <a:rPr lang="es-MX" b="1" i="1" spc="50" dirty="0">
                <a:ln w="0">
                  <a:solidFill>
                    <a:srgbClr val="FF0000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Métodos Numéricos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4F6BA2-42D7-47AC-AAB7-1CBA55380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3887" y="923361"/>
            <a:ext cx="5712447" cy="5371042"/>
          </a:xfrm>
          <a:prstGeom prst="rect">
            <a:avLst/>
          </a:prstGeom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5B720-4778-4BA9-817F-1804159F687E}"/>
              </a:ext>
            </a:extLst>
          </p:cNvPr>
          <p:cNvSpPr txBox="1"/>
          <p:nvPr/>
        </p:nvSpPr>
        <p:spPr>
          <a:xfrm>
            <a:off x="5082438" y="-3"/>
            <a:ext cx="166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6414CE-3326-4720-A5A8-D1C43D90C02F}"/>
              </a:ext>
            </a:extLst>
          </p:cNvPr>
          <p:cNvSpPr/>
          <p:nvPr/>
        </p:nvSpPr>
        <p:spPr>
          <a:xfrm>
            <a:off x="6649821" y="-2"/>
            <a:ext cx="62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E69E-91F0-4FCF-9DDB-44DF71428557}"/>
              </a:ext>
            </a:extLst>
          </p:cNvPr>
          <p:cNvSpPr/>
          <p:nvPr/>
        </p:nvSpPr>
        <p:spPr>
          <a:xfrm>
            <a:off x="7270504" y="-1"/>
            <a:ext cx="31085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80C34B-A314-4155-B62A-7B6B8E7DD3C5}"/>
              </a:ext>
            </a:extLst>
          </p:cNvPr>
          <p:cNvSpPr/>
          <p:nvPr/>
        </p:nvSpPr>
        <p:spPr>
          <a:xfrm>
            <a:off x="10205558" y="0"/>
            <a:ext cx="19864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sucesivas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52BA34-7B0C-4217-A423-E7F9F043922C}"/>
              </a:ext>
            </a:extLst>
          </p:cNvPr>
          <p:cNvSpPr txBox="1"/>
          <p:nvPr/>
        </p:nvSpPr>
        <p:spPr>
          <a:xfrm>
            <a:off x="175099" y="977180"/>
            <a:ext cx="232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Ejemplo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6AA60E-1A02-43F7-8ACC-E384B8108134}"/>
              </a:ext>
            </a:extLst>
          </p:cNvPr>
          <p:cNvSpPr txBox="1"/>
          <p:nvPr/>
        </p:nvSpPr>
        <p:spPr>
          <a:xfrm>
            <a:off x="2258879" y="970713"/>
            <a:ext cx="700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n>
                  <a:solidFill>
                    <a:srgbClr val="FF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Balloon Craft" panose="03000600000000060000" pitchFamily="66" charset="0"/>
              </a:rPr>
              <a:t>1.-</a:t>
            </a:r>
            <a:endParaRPr lang="es-MX" sz="3200" dirty="0">
              <a:ln>
                <a:solidFill>
                  <a:srgbClr val="FF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Balloon Craft" panose="03000600000000060000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/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762ACE-3B62-4005-B577-59828E20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9" y="1674631"/>
                <a:ext cx="2464264" cy="276999"/>
              </a:xfrm>
              <a:prstGeom prst="rect">
                <a:avLst/>
              </a:prstGeom>
              <a:blipFill>
                <a:blip r:embed="rId5"/>
                <a:stretch>
                  <a:fillRect l="-2723" t="-4444" r="-1485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/>
              <p:nvPr/>
            </p:nvSpPr>
            <p:spPr>
              <a:xfrm>
                <a:off x="-3234341" y="3152001"/>
                <a:ext cx="2876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E093204-863C-41F4-BCB4-C0531AEE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34341" y="3152001"/>
                <a:ext cx="2876108" cy="276999"/>
              </a:xfrm>
              <a:prstGeom prst="rect">
                <a:avLst/>
              </a:prstGeom>
              <a:blipFill>
                <a:blip r:embed="rId6"/>
                <a:stretch>
                  <a:fillRect l="-2542" t="-4348" r="-1483" b="-3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56D143-4993-4DDF-9567-7745F6C26C50}"/>
              </a:ext>
            </a:extLst>
          </p:cNvPr>
          <p:cNvSpPr txBox="1"/>
          <p:nvPr/>
        </p:nvSpPr>
        <p:spPr>
          <a:xfrm>
            <a:off x="2907451" y="1155378"/>
            <a:ext cx="5235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Encuentra la solución a la siguiente ecuación </a:t>
            </a:r>
          </a:p>
        </p:txBody>
      </p:sp>
      <p:sp>
        <p:nvSpPr>
          <p:cNvPr id="31" name="Flecha izquierda 4">
            <a:extLst>
              <a:ext uri="{FF2B5EF4-FFF2-40B4-BE49-F238E27FC236}">
                <a16:creationId xmlns:a16="http://schemas.microsoft.com/office/drawing/2014/main" id="{75CF7B91-8664-4628-B87F-41D29FDD3CD0}"/>
              </a:ext>
            </a:extLst>
          </p:cNvPr>
          <p:cNvSpPr/>
          <p:nvPr/>
        </p:nvSpPr>
        <p:spPr>
          <a:xfrm>
            <a:off x="-977609" y="6456232"/>
            <a:ext cx="661925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/>
              <p:nvPr/>
            </p:nvSpPr>
            <p:spPr>
              <a:xfrm>
                <a:off x="-2232943" y="4454593"/>
                <a:ext cx="1294200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20C6759-FC7D-4127-B469-51B6DFF9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32943" y="4454593"/>
                <a:ext cx="1294200" cy="51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echa izquierda 12">
            <a:extLst>
              <a:ext uri="{FF2B5EF4-FFF2-40B4-BE49-F238E27FC236}">
                <a16:creationId xmlns:a16="http://schemas.microsoft.com/office/drawing/2014/main" id="{091772BA-BAEB-49D2-AECA-D46C82739C43}"/>
              </a:ext>
            </a:extLst>
          </p:cNvPr>
          <p:cNvSpPr/>
          <p:nvPr/>
        </p:nvSpPr>
        <p:spPr>
          <a:xfrm rot="5400000">
            <a:off x="-718946" y="4300622"/>
            <a:ext cx="518160" cy="414351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/>
              <p:nvPr/>
            </p:nvSpPr>
            <p:spPr>
              <a:xfrm>
                <a:off x="-2587285" y="5153870"/>
                <a:ext cx="146110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5−(−1)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1721D0AD-9EED-47CF-B11E-1736E2457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87285" y="5153870"/>
                <a:ext cx="1461106" cy="527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/>
              <p:nvPr/>
            </p:nvSpPr>
            <p:spPr>
              <a:xfrm>
                <a:off x="-2571185" y="1416219"/>
                <a:ext cx="188801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𝑚𝑥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CA7928E-9563-47DF-AFD6-DE86ED91D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71185" y="1416219"/>
                <a:ext cx="1888017" cy="5357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/>
              <p:nvPr/>
            </p:nvSpPr>
            <p:spPr>
              <a:xfrm>
                <a:off x="3197622" y="1686393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DAD478A-CD43-4EF0-9B9B-A61524C6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22" y="1686393"/>
                <a:ext cx="680443" cy="276999"/>
              </a:xfrm>
              <a:prstGeom prst="rect">
                <a:avLst/>
              </a:prstGeom>
              <a:blipFill>
                <a:blip r:embed="rId10"/>
                <a:stretch>
                  <a:fillRect l="-4505" r="-8108"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991436"/>
                  </p:ext>
                </p:extLst>
              </p:nvPr>
            </p:nvGraphicFramePr>
            <p:xfrm>
              <a:off x="187435" y="2195542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𝑁𝑜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400" b="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sz="1400" b="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sz="1400" b="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MX" sz="1400" i="1" u="none" strike="noStrike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66AAB519-C3D2-4A3A-983F-D13213B0F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991436"/>
                  </p:ext>
                </p:extLst>
              </p:nvPr>
            </p:nvGraphicFramePr>
            <p:xfrm>
              <a:off x="187435" y="2195542"/>
              <a:ext cx="7216651" cy="125881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96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9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5176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8" t="-7317" r="-502538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80162" t="-7317" r="-300810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0162" t="-7317" r="-200810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80162" t="-7317" r="-100810" b="-4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Error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1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0.875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4.35416667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u="none" strike="noStrike" dirty="0">
                              <a:effectLst/>
                            </a:rPr>
                            <a:t> ------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0.12905997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4.33265667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0.02150999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3591220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0.03410667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4.32697223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0.00568444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8794715"/>
                      </a:ext>
                    </a:extLst>
                  </a:tr>
                  <a:tr h="2517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E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0.00963384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4.32536659</a:t>
                          </a:r>
                          <a:endParaRPr lang="es-MX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400" u="none" strike="noStrike" dirty="0">
                              <a:effectLst/>
                            </a:rPr>
                            <a:t>0.00160564</a:t>
                          </a: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5802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/>
              <p:nvPr/>
            </p:nvSpPr>
            <p:spPr>
              <a:xfrm>
                <a:off x="-3003155" y="3712615"/>
                <a:ext cx="2766270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4+5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F7014A6-6CDD-4110-8DA8-088B5500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03155" y="3712615"/>
                <a:ext cx="2766270" cy="5241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/>
              <p:nvPr/>
            </p:nvSpPr>
            <p:spPr>
              <a:xfrm>
                <a:off x="1901474" y="2447040"/>
                <a:ext cx="4603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E93EE99-8F26-4A22-9B47-53DF56F68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74" y="2447040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DB2B39B-8624-4D5D-9749-85C67F996E79}"/>
              </a:ext>
            </a:extLst>
          </p:cNvPr>
          <p:cNvSpPr/>
          <p:nvPr/>
        </p:nvSpPr>
        <p:spPr>
          <a:xfrm>
            <a:off x="1605720" y="2670286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s-MX" sz="1400" dirty="0"/>
              <a:t>4.35416667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A06A098-33C9-4399-9BCE-956DCE146B9F}"/>
              </a:ext>
            </a:extLst>
          </p:cNvPr>
          <p:cNvSpPr/>
          <p:nvPr/>
        </p:nvSpPr>
        <p:spPr>
          <a:xfrm>
            <a:off x="4625104" y="2687772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76393D-6B7F-457B-8DF5-68C169478253}"/>
              </a:ext>
            </a:extLst>
          </p:cNvPr>
          <p:cNvSpPr/>
          <p:nvPr/>
        </p:nvSpPr>
        <p:spPr>
          <a:xfrm>
            <a:off x="1605720" y="2936438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4.33265667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995E526-189B-49FA-A367-E525759F862D}"/>
              </a:ext>
            </a:extLst>
          </p:cNvPr>
          <p:cNvSpPr/>
          <p:nvPr/>
        </p:nvSpPr>
        <p:spPr>
          <a:xfrm>
            <a:off x="1611293" y="3182996"/>
            <a:ext cx="1051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">
              <a:defRPr/>
            </a:pPr>
            <a:r>
              <a:rPr lang="es-MX" sz="1400" dirty="0"/>
              <a:t>4.32697223</a:t>
            </a:r>
            <a:endParaRPr lang="es-MX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3AE134-161A-4FDB-BF63-9130492C48B8}"/>
              </a:ext>
            </a:extLst>
          </p:cNvPr>
          <p:cNvSpPr txBox="1"/>
          <p:nvPr/>
        </p:nvSpPr>
        <p:spPr>
          <a:xfrm>
            <a:off x="-2759968" y="5749122"/>
            <a:ext cx="2644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detenemos cuando el error nos marque un valor menor a 0.01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3195508-EC14-4B33-A2FB-DF4D37DD0119}"/>
              </a:ext>
            </a:extLst>
          </p:cNvPr>
          <p:cNvSpPr txBox="1"/>
          <p:nvPr/>
        </p:nvSpPr>
        <p:spPr>
          <a:xfrm>
            <a:off x="187435" y="3615614"/>
            <a:ext cx="264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 de la ecuación </a:t>
            </a:r>
          </a:p>
        </p:txBody>
      </p:sp>
      <p:pic>
        <p:nvPicPr>
          <p:cNvPr id="38" name="Imagen 37" descr="Recorte de pantalla">
            <a:extLst>
              <a:ext uri="{FF2B5EF4-FFF2-40B4-BE49-F238E27FC236}">
                <a16:creationId xmlns:a16="http://schemas.microsoft.com/office/drawing/2014/main" id="{2F17DD32-B834-467D-A2FB-75699A92BE0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2" b="22737"/>
          <a:stretch/>
        </p:blipFill>
        <p:spPr>
          <a:xfrm>
            <a:off x="7604644" y="581129"/>
            <a:ext cx="4409476" cy="4859551"/>
          </a:xfrm>
          <a:prstGeom prst="rect">
            <a:avLst/>
          </a:prstGeom>
        </p:spPr>
      </p:pic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CDBD0126-72E4-4AC2-8136-267FB786B790}"/>
              </a:ext>
            </a:extLst>
          </p:cNvPr>
          <p:cNvCxnSpPr>
            <a:cxnSpLocks/>
          </p:cNvCxnSpPr>
          <p:nvPr/>
        </p:nvCxnSpPr>
        <p:spPr>
          <a:xfrm>
            <a:off x="4937760" y="3465576"/>
            <a:ext cx="6025896" cy="302383"/>
          </a:xfrm>
          <a:prstGeom prst="curvedConnector3">
            <a:avLst>
              <a:gd name="adj1" fmla="val 1745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E1B50A9-0821-432E-B699-05D4E262A463}"/>
                  </a:ext>
                </a:extLst>
              </p:cNvPr>
              <p:cNvSpPr txBox="1"/>
              <p:nvPr/>
            </p:nvSpPr>
            <p:spPr>
              <a:xfrm>
                <a:off x="-3151123" y="2223271"/>
                <a:ext cx="3049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−3+2=−1</m:t>
                      </m:r>
                    </m:oMath>
                  </m:oMathPara>
                </a14:m>
                <a:endParaRPr lang="es-MX" b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E1B50A9-0821-432E-B699-05D4E262A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51123" y="2223271"/>
                <a:ext cx="3049233" cy="276999"/>
              </a:xfrm>
              <a:prstGeom prst="rect">
                <a:avLst/>
              </a:prstGeom>
              <a:blipFill>
                <a:blip r:embed="rId15"/>
                <a:stretch>
                  <a:fillRect l="-2200" t="-4444" r="-1600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F3CDD2E8-867F-42D6-989F-33991A2619A0}"/>
                  </a:ext>
                </a:extLst>
              </p:cNvPr>
              <p:cNvSpPr/>
              <p:nvPr/>
            </p:nvSpPr>
            <p:spPr>
              <a:xfrm>
                <a:off x="-3262245" y="2681878"/>
                <a:ext cx="323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−4+2=−1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F3CDD2E8-867F-42D6-989F-33991A261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62245" y="2681878"/>
                <a:ext cx="3233898" cy="369332"/>
              </a:xfrm>
              <a:prstGeom prst="rect">
                <a:avLst/>
              </a:prstGeom>
              <a:blipFill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602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1748</Words>
  <Application>Microsoft Office PowerPoint</Application>
  <PresentationFormat>Panorámica</PresentationFormat>
  <Paragraphs>538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Balloon Craft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Rivero Briseno</dc:creator>
  <cp:lastModifiedBy>Alan Javier Estrada Monrroy</cp:lastModifiedBy>
  <cp:revision>13</cp:revision>
  <dcterms:created xsi:type="dcterms:W3CDTF">2025-04-28T18:41:56Z</dcterms:created>
  <dcterms:modified xsi:type="dcterms:W3CDTF">2026-04-21T17:19:43Z</dcterms:modified>
</cp:coreProperties>
</file>