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6" r:id="rId5"/>
    <p:sldId id="297" r:id="rId6"/>
    <p:sldId id="298" r:id="rId7"/>
    <p:sldId id="300" r:id="rId8"/>
    <p:sldId id="302" r:id="rId9"/>
    <p:sldId id="301" r:id="rId10"/>
    <p:sldId id="282" r:id="rId11"/>
    <p:sldId id="294" r:id="rId12"/>
    <p:sldId id="270" r:id="rId13"/>
    <p:sldId id="299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96"/>
            <p14:sldId id="297"/>
          </p14:sldIdLst>
        </p14:section>
        <p14:section name="Diseñar, Transformación, Anotar, Trabajar en colaboración, Información" id="{B9B51309-D148-4332-87C2-07BE32FBCA3B}">
          <p14:sldIdLst>
            <p14:sldId id="298"/>
            <p14:sldId id="300"/>
            <p14:sldId id="302"/>
            <p14:sldId id="301"/>
            <p14:sldId id="282"/>
            <p14:sldId id="294"/>
            <p14:sldId id="270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utor" initials="A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1" autoAdjust="0"/>
    <p:restoredTop sz="91080" autoAdjust="0"/>
  </p:normalViewPr>
  <p:slideViewPr>
    <p:cSldViewPr snapToGrid="0">
      <p:cViewPr varScale="1">
        <p:scale>
          <a:sx n="79" d="100"/>
          <a:sy n="79" d="100"/>
        </p:scale>
        <p:origin x="739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2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E7C177B-B36A-42FB-963C-4A4062E11465}" type="datetime1">
              <a:rPr lang="es-ES" smtClean="0"/>
              <a:t>28/04/2025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D6E2F-8700-4332-938B-4B711CF8351C}" type="datetime1">
              <a:rPr lang="es-ES" smtClean="0"/>
              <a:pPr/>
              <a:t>28/04/2025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239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72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Editar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sp>
        <p:nvSpPr>
          <p:cNvPr id="6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8BBF53A3-647D-4EB5-8024-AB2FE87A599F}" type="datetime1">
              <a:rPr lang="es-ES" noProof="0" smtClean="0"/>
              <a:t>28/04/2025</a:t>
            </a:fld>
            <a:endParaRPr lang="es-ES" noProof="0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0" name="Rectá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Editar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40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6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5AAFFC4-FA62-427A-8CE9-ACD9FDA24490}" type="datetime1">
              <a:rPr lang="es-ES" noProof="0" smtClean="0"/>
              <a:t>28/04/2025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image" Target="../media/image15.png"/><Relationship Id="rId2" Type="http://schemas.openxmlformats.org/officeDocument/2006/relationships/image" Target="../media/image3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2.wdp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microsoft.com/office/2007/relationships/hdphoto" Target="../media/hdphoto1.wdp"/><Relationship Id="rId5" Type="http://schemas.openxmlformats.org/officeDocument/2006/relationships/image" Target="../media/image17.png"/><Relationship Id="rId10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.png"/><Relationship Id="rId3" Type="http://schemas.microsoft.com/office/2007/relationships/hdphoto" Target="../media/hdphoto2.wdp"/><Relationship Id="rId7" Type="http://schemas.openxmlformats.org/officeDocument/2006/relationships/image" Target="../media/image19.png"/><Relationship Id="rId12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2.wdp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microsoft.com/office/2007/relationships/hdphoto" Target="../media/hdphoto1.wdp"/><Relationship Id="rId5" Type="http://schemas.openxmlformats.org/officeDocument/2006/relationships/image" Target="../media/image25.png"/><Relationship Id="rId10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2.wdp"/><Relationship Id="rId7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 rot="16200000">
            <a:off x="-2018031" y="654583"/>
            <a:ext cx="2346504" cy="1037338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Método  </a:t>
            </a:r>
          </a:p>
        </p:txBody>
      </p:sp>
      <p:sp>
        <p:nvSpPr>
          <p:cNvPr id="7" name="Marcador de posición de contenido 17">
            <a:extLst>
              <a:ext uri="{FF2B5EF4-FFF2-40B4-BE49-F238E27FC236}">
                <a16:creationId xmlns:a16="http://schemas.microsoft.com/office/drawing/2014/main" id="{BE8BD692-F3EC-4D87-85A0-8E6767E0EB3F}"/>
              </a:ext>
            </a:extLst>
          </p:cNvPr>
          <p:cNvSpPr txBox="1">
            <a:spLocks/>
          </p:cNvSpPr>
          <p:nvPr/>
        </p:nvSpPr>
        <p:spPr>
          <a:xfrm>
            <a:off x="8069875" y="7397992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45BF51-C045-4C8D-B231-60FB6D11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2" y="-2019431"/>
            <a:ext cx="2260364" cy="2125964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A8A6754D-0549-4C0F-9D9C-8EBA20624D25}"/>
              </a:ext>
            </a:extLst>
          </p:cNvPr>
          <p:cNvGrpSpPr/>
          <p:nvPr/>
        </p:nvGrpSpPr>
        <p:grpSpPr>
          <a:xfrm>
            <a:off x="4557942" y="2710649"/>
            <a:ext cx="3435659" cy="1237145"/>
            <a:chOff x="8259931" y="642152"/>
            <a:chExt cx="3435659" cy="1237145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0663E29-5259-418A-BC78-A8FA6730E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749265" y="642152"/>
              <a:ext cx="2946325" cy="806258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1B3CE93C-9442-49C1-A332-0D0E8C386300}"/>
                </a:ext>
              </a:extLst>
            </p:cNvPr>
            <p:cNvSpPr txBox="1"/>
            <p:nvPr/>
          </p:nvSpPr>
          <p:spPr>
            <a:xfrm>
              <a:off x="8259931" y="1448410"/>
              <a:ext cx="3435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1100" dirty="0">
                  <a:latin typeface="Rockwell Extra Bold" panose="02060903040505020403" pitchFamily="18" charset="0"/>
                </a:rPr>
                <a:t>Ixtapaluca</a:t>
              </a:r>
              <a:endParaRPr lang="es-MX" sz="1100" dirty="0">
                <a:latin typeface="Rockwell Extra Bold" panose="02060903040505020403" pitchFamily="18" charset="0"/>
              </a:endParaRPr>
            </a:p>
          </p:txBody>
        </p:sp>
      </p:grpSp>
      <p:sp>
        <p:nvSpPr>
          <p:cNvPr id="12" name="Marcador de posición de contenido 17">
            <a:extLst>
              <a:ext uri="{FF2B5EF4-FFF2-40B4-BE49-F238E27FC236}">
                <a16:creationId xmlns:a16="http://schemas.microsoft.com/office/drawing/2014/main" id="{37406A11-FF27-48F3-9C5B-342CE06E2415}"/>
              </a:ext>
            </a:extLst>
          </p:cNvPr>
          <p:cNvSpPr txBox="1">
            <a:spLocks/>
          </p:cNvSpPr>
          <p:nvPr/>
        </p:nvSpPr>
        <p:spPr>
          <a:xfrm>
            <a:off x="9034544" y="769236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6F1CFA-1FD8-4375-81A3-40DFDCA3AE7B}"/>
              </a:ext>
            </a:extLst>
          </p:cNvPr>
          <p:cNvSpPr txBox="1">
            <a:spLocks/>
          </p:cNvSpPr>
          <p:nvPr/>
        </p:nvSpPr>
        <p:spPr>
          <a:xfrm rot="16200000">
            <a:off x="-1176211" y="2409887"/>
            <a:ext cx="936514" cy="103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chemeClr val="bg1"/>
                </a:solidFill>
              </a:rPr>
              <a:t>de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7F932A1F-6638-4E0F-A6AB-5277EC81036A}"/>
              </a:ext>
            </a:extLst>
          </p:cNvPr>
          <p:cNvSpPr txBox="1">
            <a:spLocks/>
          </p:cNvSpPr>
          <p:nvPr/>
        </p:nvSpPr>
        <p:spPr>
          <a:xfrm rot="16200000">
            <a:off x="-1946365" y="4246850"/>
            <a:ext cx="2203174" cy="103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chemeClr val="bg1"/>
                </a:solidFill>
              </a:rPr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4100917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8560" y="2685555"/>
            <a:ext cx="2346504" cy="1037338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Método  </a:t>
            </a:r>
          </a:p>
        </p:txBody>
      </p:sp>
      <p:sp>
        <p:nvSpPr>
          <p:cNvPr id="7" name="Marcador de posición de contenido 17">
            <a:extLst>
              <a:ext uri="{FF2B5EF4-FFF2-40B4-BE49-F238E27FC236}">
                <a16:creationId xmlns:a16="http://schemas.microsoft.com/office/drawing/2014/main" id="{BE8BD692-F3EC-4D87-85A0-8E6767E0EB3F}"/>
              </a:ext>
            </a:extLst>
          </p:cNvPr>
          <p:cNvSpPr txBox="1">
            <a:spLocks/>
          </p:cNvSpPr>
          <p:nvPr/>
        </p:nvSpPr>
        <p:spPr>
          <a:xfrm>
            <a:off x="8069875" y="6013075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45BF51-C045-4C8D-B231-60FB6D11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86" y="253252"/>
            <a:ext cx="2260364" cy="2125964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A8A6754D-0549-4C0F-9D9C-8EBA20624D25}"/>
              </a:ext>
            </a:extLst>
          </p:cNvPr>
          <p:cNvGrpSpPr/>
          <p:nvPr/>
        </p:nvGrpSpPr>
        <p:grpSpPr>
          <a:xfrm>
            <a:off x="8259931" y="642152"/>
            <a:ext cx="3435659" cy="1237145"/>
            <a:chOff x="8259931" y="642152"/>
            <a:chExt cx="3435659" cy="1237145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0663E29-5259-418A-BC78-A8FA6730E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749265" y="642152"/>
              <a:ext cx="2946325" cy="806258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1B3CE93C-9442-49C1-A332-0D0E8C386300}"/>
                </a:ext>
              </a:extLst>
            </p:cNvPr>
            <p:cNvSpPr txBox="1"/>
            <p:nvPr/>
          </p:nvSpPr>
          <p:spPr>
            <a:xfrm>
              <a:off x="8259931" y="1448410"/>
              <a:ext cx="3435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1100" dirty="0">
                  <a:latin typeface="Rockwell Extra Bold" panose="02060903040505020403" pitchFamily="18" charset="0"/>
                </a:rPr>
                <a:t>Ixtapaluca</a:t>
              </a:r>
              <a:endParaRPr lang="es-MX" sz="1100" dirty="0">
                <a:latin typeface="Rockwell Extra Bold" panose="02060903040505020403" pitchFamily="18" charset="0"/>
              </a:endParaRPr>
            </a:p>
          </p:txBody>
        </p:sp>
      </p:grpSp>
      <p:sp>
        <p:nvSpPr>
          <p:cNvPr id="12" name="Marcador de posición de contenido 17">
            <a:extLst>
              <a:ext uri="{FF2B5EF4-FFF2-40B4-BE49-F238E27FC236}">
                <a16:creationId xmlns:a16="http://schemas.microsoft.com/office/drawing/2014/main" id="{37406A11-FF27-48F3-9C5B-342CE06E2415}"/>
              </a:ext>
            </a:extLst>
          </p:cNvPr>
          <p:cNvSpPr txBox="1">
            <a:spLocks/>
          </p:cNvSpPr>
          <p:nvPr/>
        </p:nvSpPr>
        <p:spPr>
          <a:xfrm>
            <a:off x="9034544" y="6307452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6F1CFA-1FD8-4375-81A3-40DFDCA3AE7B}"/>
              </a:ext>
            </a:extLst>
          </p:cNvPr>
          <p:cNvSpPr txBox="1">
            <a:spLocks/>
          </p:cNvSpPr>
          <p:nvPr/>
        </p:nvSpPr>
        <p:spPr>
          <a:xfrm>
            <a:off x="4922748" y="3282708"/>
            <a:ext cx="936514" cy="103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chemeClr val="bg1"/>
                </a:solidFill>
              </a:rPr>
              <a:t>de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7F932A1F-6638-4E0F-A6AB-5277EC81036A}"/>
              </a:ext>
            </a:extLst>
          </p:cNvPr>
          <p:cNvSpPr txBox="1">
            <a:spLocks/>
          </p:cNvSpPr>
          <p:nvPr/>
        </p:nvSpPr>
        <p:spPr>
          <a:xfrm>
            <a:off x="6186225" y="3980520"/>
            <a:ext cx="2203174" cy="103733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chemeClr val="bg1"/>
                </a:solidFill>
              </a:rPr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352468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10180BFE-C9A4-4B36-B665-EC82CF85B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2432" y="906590"/>
            <a:ext cx="5712447" cy="5371042"/>
          </a:xfrm>
          <a:prstGeom prst="rect">
            <a:avLst/>
          </a:prstGeom>
          <a:effectLst/>
        </p:spPr>
      </p:pic>
      <p:sp>
        <p:nvSpPr>
          <p:cNvPr id="20" name="Marcador de posición de contenido 17">
            <a:extLst>
              <a:ext uri="{FF2B5EF4-FFF2-40B4-BE49-F238E27FC236}">
                <a16:creationId xmlns:a16="http://schemas.microsoft.com/office/drawing/2014/main" id="{B453C524-C362-46CE-BDDE-7CA6ADEEC48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21" name="Marcador de posición de contenido 17">
            <a:extLst>
              <a:ext uri="{FF2B5EF4-FFF2-40B4-BE49-F238E27FC236}">
                <a16:creationId xmlns:a16="http://schemas.microsoft.com/office/drawing/2014/main" id="{F2AD9F9F-DD0E-4BA8-85BC-40904B18DC5F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3F7658E-C8E7-4180-A964-E3550E345C9D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73F2F4E2-C90D-4D5C-A3EF-26A55C66F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AEF67A3-7E54-4057-93DF-04A313509D3D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30FBBB9-FF2B-4DEE-9BE0-B92747F471DD}"/>
                  </a:ext>
                </a:extLst>
              </p:cNvPr>
              <p:cNvSpPr txBox="1"/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30FBBB9-FF2B-4DEE-9BE0-B92747F47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Nube 37">
            <a:extLst>
              <a:ext uri="{FF2B5EF4-FFF2-40B4-BE49-F238E27FC236}">
                <a16:creationId xmlns:a16="http://schemas.microsoft.com/office/drawing/2014/main" id="{2CC51F2B-3DDD-4754-9ED7-08F3DBF4B58E}"/>
              </a:ext>
            </a:extLst>
          </p:cNvPr>
          <p:cNvSpPr/>
          <p:nvPr/>
        </p:nvSpPr>
        <p:spPr>
          <a:xfrm>
            <a:off x="3503561" y="1241935"/>
            <a:ext cx="6535507" cy="1113215"/>
          </a:xfrm>
          <a:prstGeom prst="cloud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en la ecuación hasta encontrar el cambio de signo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9B80AF8-3F59-4FE6-B383-862EFA2EB5A8}"/>
              </a:ext>
            </a:extLst>
          </p:cNvPr>
          <p:cNvSpPr txBox="1"/>
          <p:nvPr/>
        </p:nvSpPr>
        <p:spPr>
          <a:xfrm>
            <a:off x="3776752" y="302152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E923EE4-B3E6-4BF7-BFED-4E0BE02E3ECE}"/>
                  </a:ext>
                </a:extLst>
              </p:cNvPr>
              <p:cNvSpPr txBox="1"/>
              <p:nvPr/>
            </p:nvSpPr>
            <p:spPr>
              <a:xfrm>
                <a:off x="367647" y="1692004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−9=−9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E923EE4-B3E6-4BF7-BFED-4E0BE02E3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7" y="1692004"/>
                <a:ext cx="3290196" cy="307777"/>
              </a:xfrm>
              <a:prstGeom prst="rect">
                <a:avLst/>
              </a:prstGeom>
              <a:blipFill>
                <a:blip r:embed="rId7"/>
                <a:stretch>
                  <a:fillRect l="-556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4067AF87-0395-448D-A724-A0DE94B31B7E}"/>
                  </a:ext>
                </a:extLst>
              </p:cNvPr>
              <p:cNvSpPr txBox="1"/>
              <p:nvPr/>
            </p:nvSpPr>
            <p:spPr>
              <a:xfrm>
                <a:off x="367647" y="2047373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−9=−6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4067AF87-0395-448D-A724-A0DE94B31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7" y="2047373"/>
                <a:ext cx="3290196" cy="307777"/>
              </a:xfrm>
              <a:prstGeom prst="rect">
                <a:avLst/>
              </a:prstGeom>
              <a:blipFill>
                <a:blip r:embed="rId8"/>
                <a:stretch>
                  <a:fillRect l="-556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628390D-541A-4A7F-9CD7-2C99E79C32F3}"/>
                  </a:ext>
                </a:extLst>
              </p:cNvPr>
              <p:cNvSpPr txBox="1"/>
              <p:nvPr/>
            </p:nvSpPr>
            <p:spPr>
              <a:xfrm>
                <a:off x="362001" y="2446227"/>
                <a:ext cx="3004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628390D-541A-4A7F-9CD7-2C99E79C3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01" y="2446227"/>
                <a:ext cx="3004862" cy="307777"/>
              </a:xfrm>
              <a:prstGeom prst="rect">
                <a:avLst/>
              </a:prstGeom>
              <a:blipFill>
                <a:blip r:embed="rId9"/>
                <a:stretch>
                  <a:fillRect l="-2231" r="-1420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ítulo 1">
            <a:extLst>
              <a:ext uri="{FF2B5EF4-FFF2-40B4-BE49-F238E27FC236}">
                <a16:creationId xmlns:a16="http://schemas.microsoft.com/office/drawing/2014/main" id="{FC39A54C-83A8-4D1E-BA9A-45990A2DD53F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56" name="Título 1">
            <a:extLst>
              <a:ext uri="{FF2B5EF4-FFF2-40B4-BE49-F238E27FC236}">
                <a16:creationId xmlns:a16="http://schemas.microsoft.com/office/drawing/2014/main" id="{8745939E-4206-4362-8E65-15D228775F49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57" name="Título 1">
            <a:extLst>
              <a:ext uri="{FF2B5EF4-FFF2-40B4-BE49-F238E27FC236}">
                <a16:creationId xmlns:a16="http://schemas.microsoft.com/office/drawing/2014/main" id="{9027AE9A-7A05-4BCE-A285-D2C686D0A829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3783245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41" grpId="0"/>
      <p:bldP spid="42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10180BFE-C9A4-4B36-B665-EC82CF85B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5189" y="940193"/>
            <a:ext cx="5712447" cy="5371042"/>
          </a:xfrm>
          <a:prstGeom prst="rect">
            <a:avLst/>
          </a:prstGeom>
          <a:effectLst/>
        </p:spPr>
      </p:pic>
      <p:sp>
        <p:nvSpPr>
          <p:cNvPr id="20" name="Marcador de posición de contenido 17">
            <a:extLst>
              <a:ext uri="{FF2B5EF4-FFF2-40B4-BE49-F238E27FC236}">
                <a16:creationId xmlns:a16="http://schemas.microsoft.com/office/drawing/2014/main" id="{B453C524-C362-46CE-BDDE-7CA6ADEEC48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21" name="Marcador de posición de contenido 17">
            <a:extLst>
              <a:ext uri="{FF2B5EF4-FFF2-40B4-BE49-F238E27FC236}">
                <a16:creationId xmlns:a16="http://schemas.microsoft.com/office/drawing/2014/main" id="{F2AD9F9F-DD0E-4BA8-85BC-40904B18DC5F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3F7658E-C8E7-4180-A964-E3550E345C9D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73F2F4E2-C90D-4D5C-A3EF-26A55C66F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AEF67A3-7E54-4057-93DF-04A313509D3D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30FBBB9-FF2B-4DEE-9BE0-B92747F471DD}"/>
                  </a:ext>
                </a:extLst>
              </p:cNvPr>
              <p:cNvSpPr txBox="1"/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30FBBB9-FF2B-4DEE-9BE0-B92747F47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Nube 37">
            <a:extLst>
              <a:ext uri="{FF2B5EF4-FFF2-40B4-BE49-F238E27FC236}">
                <a16:creationId xmlns:a16="http://schemas.microsoft.com/office/drawing/2014/main" id="{2CC51F2B-3DDD-4754-9ED7-08F3DBF4B58E}"/>
              </a:ext>
            </a:extLst>
          </p:cNvPr>
          <p:cNvSpPr/>
          <p:nvPr/>
        </p:nvSpPr>
        <p:spPr>
          <a:xfrm>
            <a:off x="4315865" y="1781657"/>
            <a:ext cx="4210040" cy="1146985"/>
          </a:xfrm>
          <a:prstGeom prst="cloud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Aparece el cambio de signo</a:t>
            </a:r>
          </a:p>
          <a:p>
            <a:pPr algn="ctr"/>
            <a:endParaRPr lang="es-MX" dirty="0"/>
          </a:p>
        </p:txBody>
      </p:sp>
      <p:sp>
        <p:nvSpPr>
          <p:cNvPr id="39" name="Flecha izquierda 4">
            <a:extLst>
              <a:ext uri="{FF2B5EF4-FFF2-40B4-BE49-F238E27FC236}">
                <a16:creationId xmlns:a16="http://schemas.microsoft.com/office/drawing/2014/main" id="{3A85BFD4-6C97-45F1-A8FD-1425AB2A77A7}"/>
              </a:ext>
            </a:extLst>
          </p:cNvPr>
          <p:cNvSpPr/>
          <p:nvPr/>
        </p:nvSpPr>
        <p:spPr>
          <a:xfrm>
            <a:off x="3657843" y="2318683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9B80AF8-3F59-4FE6-B383-862EFA2EB5A8}"/>
              </a:ext>
            </a:extLst>
          </p:cNvPr>
          <p:cNvSpPr txBox="1"/>
          <p:nvPr/>
        </p:nvSpPr>
        <p:spPr>
          <a:xfrm>
            <a:off x="3776752" y="302152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E923EE4-B3E6-4BF7-BFED-4E0BE02E3ECE}"/>
                  </a:ext>
                </a:extLst>
              </p:cNvPr>
              <p:cNvSpPr txBox="1"/>
              <p:nvPr/>
            </p:nvSpPr>
            <p:spPr>
              <a:xfrm>
                <a:off x="367647" y="1692004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−9=−9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E923EE4-B3E6-4BF7-BFED-4E0BE02E3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7" y="1692004"/>
                <a:ext cx="3290196" cy="307777"/>
              </a:xfrm>
              <a:prstGeom prst="rect">
                <a:avLst/>
              </a:prstGeom>
              <a:blipFill>
                <a:blip r:embed="rId7"/>
                <a:stretch>
                  <a:fillRect l="-556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4067AF87-0395-448D-A724-A0DE94B31B7E}"/>
                  </a:ext>
                </a:extLst>
              </p:cNvPr>
              <p:cNvSpPr txBox="1"/>
              <p:nvPr/>
            </p:nvSpPr>
            <p:spPr>
              <a:xfrm>
                <a:off x="367647" y="2047373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−9=−6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4067AF87-0395-448D-A724-A0DE94B31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7" y="2047373"/>
                <a:ext cx="3290196" cy="307777"/>
              </a:xfrm>
              <a:prstGeom prst="rect">
                <a:avLst/>
              </a:prstGeom>
              <a:blipFill>
                <a:blip r:embed="rId8"/>
                <a:stretch>
                  <a:fillRect l="-556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EA3F8AB8-6F81-4743-A06D-14E782826B37}"/>
                  </a:ext>
                </a:extLst>
              </p:cNvPr>
              <p:cNvSpPr txBox="1"/>
              <p:nvPr/>
            </p:nvSpPr>
            <p:spPr>
              <a:xfrm>
                <a:off x="1285868" y="3992788"/>
                <a:ext cx="2131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EA3F8AB8-6F81-4743-A06D-14E782826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68" y="3992788"/>
                <a:ext cx="213199" cy="307777"/>
              </a:xfrm>
              <a:prstGeom prst="rect">
                <a:avLst/>
              </a:prstGeom>
              <a:blipFill>
                <a:blip r:embed="rId9"/>
                <a:stretch>
                  <a:fillRect l="-25714" r="-22857"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uadroTexto 43">
            <a:extLst>
              <a:ext uri="{FF2B5EF4-FFF2-40B4-BE49-F238E27FC236}">
                <a16:creationId xmlns:a16="http://schemas.microsoft.com/office/drawing/2014/main" id="{41F0EDE8-0896-4AA9-B8B0-E76E71E1F59D}"/>
              </a:ext>
            </a:extLst>
          </p:cNvPr>
          <p:cNvSpPr txBox="1"/>
          <p:nvPr/>
        </p:nvSpPr>
        <p:spPr>
          <a:xfrm>
            <a:off x="1379365" y="3162660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Planteamos la siguiente tabulación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a 44">
                <a:extLst>
                  <a:ext uri="{FF2B5EF4-FFF2-40B4-BE49-F238E27FC236}">
                    <a16:creationId xmlns:a16="http://schemas.microsoft.com/office/drawing/2014/main" id="{CB29CABA-B47B-4B2E-A6DF-97647948926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5860" y="3615281"/>
              <a:ext cx="100802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6320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01512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85795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891822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24089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4590891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714890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a 44">
                <a:extLst>
                  <a:ext uri="{FF2B5EF4-FFF2-40B4-BE49-F238E27FC236}">
                    <a16:creationId xmlns:a16="http://schemas.microsoft.com/office/drawing/2014/main" id="{CB29CABA-B47B-4B2E-A6DF-97647948926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5860" y="3615281"/>
              <a:ext cx="100802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6320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01512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85795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891822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24089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4590891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714890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73485" t="-6557" r="-1083333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63571" t="-6557" r="-921429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275373" t="-6557" r="-862687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344521" t="-6557" r="-69178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480741" t="-6557" r="-648148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03979" t="-6557" r="-16048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FBFBF91E-6D0C-41D3-B4B0-F6FE9815BEB5}"/>
                  </a:ext>
                </a:extLst>
              </p:cNvPr>
              <p:cNvSpPr txBox="1"/>
              <p:nvPr/>
            </p:nvSpPr>
            <p:spPr>
              <a:xfrm>
                <a:off x="1894600" y="4012475"/>
                <a:ext cx="2132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FBFBF91E-6D0C-41D3-B4B0-F6FE9815B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00" y="4012475"/>
                <a:ext cx="213200" cy="307777"/>
              </a:xfrm>
              <a:prstGeom prst="rect">
                <a:avLst/>
              </a:prstGeom>
              <a:blipFill>
                <a:blip r:embed="rId11"/>
                <a:stretch>
                  <a:fillRect l="-25714" r="-22857" b="-980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628390D-541A-4A7F-9CD7-2C99E79C32F3}"/>
                  </a:ext>
                </a:extLst>
              </p:cNvPr>
              <p:cNvSpPr txBox="1"/>
              <p:nvPr/>
            </p:nvSpPr>
            <p:spPr>
              <a:xfrm>
                <a:off x="362001" y="2446227"/>
                <a:ext cx="3004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628390D-541A-4A7F-9CD7-2C99E79C3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01" y="2446227"/>
                <a:ext cx="3004862" cy="307777"/>
              </a:xfrm>
              <a:prstGeom prst="rect">
                <a:avLst/>
              </a:prstGeom>
              <a:blipFill>
                <a:blip r:embed="rId12"/>
                <a:stretch>
                  <a:fillRect l="-2231" r="-1420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5124625-3120-414B-BCFD-76E0E41CB1D4}"/>
                  </a:ext>
                </a:extLst>
              </p:cNvPr>
              <p:cNvSpPr txBox="1"/>
              <p:nvPr/>
            </p:nvSpPr>
            <p:spPr>
              <a:xfrm>
                <a:off x="2548534" y="3992787"/>
                <a:ext cx="3350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MX" sz="2000" dirty="0"/>
                  <a:t>6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5124625-3120-414B-BCFD-76E0E41C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534" y="3992787"/>
                <a:ext cx="335028" cy="307777"/>
              </a:xfrm>
              <a:prstGeom prst="rect">
                <a:avLst/>
              </a:prstGeom>
              <a:blipFill>
                <a:blip r:embed="rId13"/>
                <a:stretch>
                  <a:fillRect l="-12727" t="-24000" r="-45455" b="-52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CuadroTexto 48">
            <a:extLst>
              <a:ext uri="{FF2B5EF4-FFF2-40B4-BE49-F238E27FC236}">
                <a16:creationId xmlns:a16="http://schemas.microsoft.com/office/drawing/2014/main" id="{EA4DE8E6-59ED-4A8A-9EC6-1C5232F9CE8A}"/>
              </a:ext>
            </a:extLst>
          </p:cNvPr>
          <p:cNvSpPr txBox="1"/>
          <p:nvPr/>
        </p:nvSpPr>
        <p:spPr>
          <a:xfrm>
            <a:off x="3596072" y="3992787"/>
            <a:ext cx="1426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MX" sz="2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F4C3E95B-5151-476E-96E1-A493E7F348F3}"/>
                  </a:ext>
                </a:extLst>
              </p:cNvPr>
              <p:cNvSpPr txBox="1"/>
              <p:nvPr/>
            </p:nvSpPr>
            <p:spPr>
              <a:xfrm>
                <a:off x="4414445" y="3992786"/>
                <a:ext cx="2132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F4C3E95B-5151-476E-96E1-A493E7F34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445" y="3992786"/>
                <a:ext cx="213200" cy="307777"/>
              </a:xfrm>
              <a:prstGeom prst="rect">
                <a:avLst/>
              </a:prstGeom>
              <a:blipFill>
                <a:blip r:embed="rId14"/>
                <a:stretch>
                  <a:fillRect l="-22857" r="-25714"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98219C0F-2C87-4E66-8805-1D7DB34F11A1}"/>
                  </a:ext>
                </a:extLst>
              </p:cNvPr>
              <p:cNvSpPr txBox="1"/>
              <p:nvPr/>
            </p:nvSpPr>
            <p:spPr>
              <a:xfrm>
                <a:off x="395355" y="5951410"/>
                <a:ext cx="2397387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</m:num>
                        <m:den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98219C0F-2C87-4E66-8805-1D7DB34F1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55" y="5951410"/>
                <a:ext cx="2397387" cy="576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uadroTexto 51">
            <a:extLst>
              <a:ext uri="{FF2B5EF4-FFF2-40B4-BE49-F238E27FC236}">
                <a16:creationId xmlns:a16="http://schemas.microsoft.com/office/drawing/2014/main" id="{858F134D-C7AB-4D4A-81C1-194B90D10DDB}"/>
              </a:ext>
            </a:extLst>
          </p:cNvPr>
          <p:cNvSpPr txBox="1"/>
          <p:nvPr/>
        </p:nvSpPr>
        <p:spPr>
          <a:xfrm>
            <a:off x="5303350" y="4003937"/>
            <a:ext cx="33823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000" b="0" i="1">
                <a:latin typeface="Cambria Math" panose="02040503050406030204" pitchFamily="18" charset="0"/>
              </a:defRPr>
            </a:lvl1pPr>
          </a:lstStyle>
          <a:p>
            <a:r>
              <a:rPr lang="es-MX" dirty="0"/>
              <a:t>1.5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50C7F285-A85D-4FB1-8AEA-D74EC3A133F0}"/>
                  </a:ext>
                </a:extLst>
              </p:cNvPr>
              <p:cNvSpPr txBox="1"/>
              <p:nvPr/>
            </p:nvSpPr>
            <p:spPr>
              <a:xfrm>
                <a:off x="6192254" y="4032160"/>
                <a:ext cx="42638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</m:d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d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d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−9=</m:t>
                    </m:r>
                  </m:oMath>
                </a14:m>
                <a:r>
                  <a:rPr lang="es-MX" sz="2000" dirty="0"/>
                  <a:t>-1.125</a:t>
                </a:r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50C7F285-A85D-4FB1-8AEA-D74EC3A13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254" y="4032160"/>
                <a:ext cx="4263860" cy="307777"/>
              </a:xfrm>
              <a:prstGeom prst="rect">
                <a:avLst/>
              </a:prstGeom>
              <a:blipFill>
                <a:blip r:embed="rId16"/>
                <a:stretch>
                  <a:fillRect l="-2861" t="-23529" r="-2718" b="-509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2DDA0B1-552B-4412-8307-BA256E4B9567}"/>
                  </a:ext>
                </a:extLst>
              </p:cNvPr>
              <p:cNvSpPr txBox="1"/>
              <p:nvPr/>
            </p:nvSpPr>
            <p:spPr>
              <a:xfrm>
                <a:off x="10645072" y="4023763"/>
                <a:ext cx="2628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2DDA0B1-552B-4412-8307-BA256E4B9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072" y="4023763"/>
                <a:ext cx="262892" cy="307777"/>
              </a:xfrm>
              <a:prstGeom prst="rect">
                <a:avLst/>
              </a:prstGeom>
              <a:blipFill>
                <a:blip r:embed="rId17"/>
                <a:stretch>
                  <a:fillRect l="-2326" r="-46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ítulo 1">
            <a:extLst>
              <a:ext uri="{FF2B5EF4-FFF2-40B4-BE49-F238E27FC236}">
                <a16:creationId xmlns:a16="http://schemas.microsoft.com/office/drawing/2014/main" id="{FC39A54C-83A8-4D1E-BA9A-45990A2DD53F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56" name="Título 1">
            <a:extLst>
              <a:ext uri="{FF2B5EF4-FFF2-40B4-BE49-F238E27FC236}">
                <a16:creationId xmlns:a16="http://schemas.microsoft.com/office/drawing/2014/main" id="{8745939E-4206-4362-8E65-15D228775F49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57" name="Título 1">
            <a:extLst>
              <a:ext uri="{FF2B5EF4-FFF2-40B4-BE49-F238E27FC236}">
                <a16:creationId xmlns:a16="http://schemas.microsoft.com/office/drawing/2014/main" id="{9027AE9A-7A05-4BCE-A285-D2C686D0A829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1269568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  <p:bldP spid="39" grpId="0" animBg="1"/>
      <p:bldP spid="39" grpId="1" animBg="1"/>
      <p:bldP spid="39" grpId="2" animBg="1"/>
      <p:bldP spid="43" grpId="0"/>
      <p:bldP spid="44" grpId="0"/>
      <p:bldP spid="46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C10D956C-46B6-4B8B-AAC5-AD628ED5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1607404" y="1557118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−9=−9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404" y="1557118"/>
                <a:ext cx="3290196" cy="307777"/>
              </a:xfrm>
              <a:prstGeom prst="rect">
                <a:avLst/>
              </a:prstGeom>
              <a:blipFill>
                <a:blip r:embed="rId4"/>
                <a:stretch>
                  <a:fillRect l="-742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1607404" y="1912487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−9=−6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404" y="1912487"/>
                <a:ext cx="3290196" cy="307777"/>
              </a:xfrm>
              <a:prstGeom prst="rect">
                <a:avLst/>
              </a:prstGeom>
              <a:blipFill>
                <a:blip r:embed="rId5"/>
                <a:stretch>
                  <a:fillRect l="-742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2712728"/>
              <a:ext cx="112332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29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7939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41326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91783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7848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4373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25350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2985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e>
                              </m:d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−9=</m:t>
                              </m:r>
                            </m:oMath>
                          </a14:m>
                          <a:r>
                            <a:rPr lang="es-MX" sz="1800" dirty="0"/>
                            <a:t>-1.125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2712728"/>
              <a:ext cx="112332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29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7939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41326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91783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7848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4373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25350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2985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74306" t="-6557" r="-110972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62987" t="-6557" r="-93766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275510" t="-6557" r="-88231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45000" t="-6557" r="-71062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459355" t="-6557" r="-633548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2969" t="-6557" r="-16627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2969" t="-106557" r="-16627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1601758" y="2311341"/>
                <a:ext cx="3004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58" y="2311341"/>
                <a:ext cx="3004862" cy="307777"/>
              </a:xfrm>
              <a:prstGeom prst="rect">
                <a:avLst/>
              </a:prstGeom>
              <a:blipFill>
                <a:blip r:embed="rId7"/>
                <a:stretch>
                  <a:fillRect l="-2434" r="-1217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1601758" y="5924945"/>
                <a:ext cx="2684196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1.5+1.75</m:t>
                        </m:r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2400" dirty="0"/>
                  <a:t>1.625</a:t>
                </a:r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58" y="5924945"/>
                <a:ext cx="2684196" cy="527580"/>
              </a:xfrm>
              <a:prstGeom prst="rect">
                <a:avLst/>
              </a:prstGeom>
              <a:blipFill>
                <a:blip r:embed="rId8"/>
                <a:stretch>
                  <a:fillRect t="-3488" r="-4773" b="-197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782091"/>
                  </p:ext>
                </p:extLst>
              </p:nvPr>
            </p:nvGraphicFramePr>
            <p:xfrm>
              <a:off x="417203" y="4015392"/>
              <a:ext cx="1123322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𝟕𝟓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−9=2.484375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3.609375</m:t>
                                </m:r>
                              </m:oMath>
                            </m:oMathPara>
                          </a14:m>
                          <a:endParaRPr lang="es-MX" sz="1800" dirty="0"/>
                        </a:p>
                        <a:p>
                          <a:pPr algn="ctr"/>
                          <a:endParaRPr lang="es-MX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782091"/>
                  </p:ext>
                </p:extLst>
              </p:nvPr>
            </p:nvGraphicFramePr>
            <p:xfrm>
              <a:off x="417203" y="4015392"/>
              <a:ext cx="1123322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62420" t="-3774" r="-915287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344172" t="-3774" r="-69018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509859" t="-3774" r="-69225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03341" t="-3774" r="-1730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208511" t="-3774" r="-2837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upo 16">
            <a:extLst>
              <a:ext uri="{FF2B5EF4-FFF2-40B4-BE49-F238E27FC236}">
                <a16:creationId xmlns:a16="http://schemas.microsoft.com/office/drawing/2014/main" id="{81014949-4474-4DC2-9342-D8AD4AB90201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48BF7F35-284E-42AA-861B-D35796F257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2540708D-28FF-41F9-947C-CC04287B8D91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0C0E29F-CED0-4E57-AD1D-F6222A4629D7}"/>
                  </a:ext>
                </a:extLst>
              </p:cNvPr>
              <p:cNvSpPr txBox="1"/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0C0E29F-CED0-4E57-AD1D-F6222A462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09DC053A-CB8C-47C9-ABD3-32AEA9748A9D}"/>
              </a:ext>
            </a:extLst>
          </p:cNvPr>
          <p:cNvSpPr txBox="1"/>
          <p:nvPr/>
        </p:nvSpPr>
        <p:spPr>
          <a:xfrm>
            <a:off x="3776752" y="302152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6" name="Marcador de posición de contenido 17">
            <a:extLst>
              <a:ext uri="{FF2B5EF4-FFF2-40B4-BE49-F238E27FC236}">
                <a16:creationId xmlns:a16="http://schemas.microsoft.com/office/drawing/2014/main" id="{955EA53A-BBCC-4965-B754-40F61780E9D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27" name="Marcador de posición de contenido 17">
            <a:extLst>
              <a:ext uri="{FF2B5EF4-FFF2-40B4-BE49-F238E27FC236}">
                <a16:creationId xmlns:a16="http://schemas.microsoft.com/office/drawing/2014/main" id="{FEAC039D-D2E1-4651-AAF2-EB2C12FE91A0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FDB4B8E7-689C-4A3D-A2D3-E2F2BB15CF6A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2DCDA72-63C1-4B35-8A2C-0C53F4C4387E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8278C6F-D2AF-4E3F-B3CF-705B64249B1F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  <p:cxnSp>
        <p:nvCxnSpPr>
          <p:cNvPr id="9" name="Conector: curvado 8">
            <a:extLst>
              <a:ext uri="{FF2B5EF4-FFF2-40B4-BE49-F238E27FC236}">
                <a16:creationId xmlns:a16="http://schemas.microsoft.com/office/drawing/2014/main" id="{9995B90B-7276-40B2-9E23-D521CC9F87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01758" y="3386660"/>
            <a:ext cx="3556168" cy="603606"/>
          </a:xfrm>
          <a:prstGeom prst="curvedConnector3">
            <a:avLst>
              <a:gd name="adj1" fmla="val 9967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BB9A9BC3-8918-4155-BAD8-35BD690FF6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9832" y="3420534"/>
            <a:ext cx="7469874" cy="632832"/>
          </a:xfrm>
          <a:prstGeom prst="curvedConnector3">
            <a:avLst>
              <a:gd name="adj1" fmla="val 9955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01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C10D956C-46B6-4B8B-AAC5-AD628ED5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1607404" y="1557118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−9=−9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404" y="1557118"/>
                <a:ext cx="3290196" cy="307777"/>
              </a:xfrm>
              <a:prstGeom prst="rect">
                <a:avLst/>
              </a:prstGeom>
              <a:blipFill>
                <a:blip r:embed="rId4"/>
                <a:stretch>
                  <a:fillRect l="-742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1607404" y="1912487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−9=−6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404" y="1912487"/>
                <a:ext cx="3290196" cy="307777"/>
              </a:xfrm>
              <a:prstGeom prst="rect">
                <a:avLst/>
              </a:prstGeom>
              <a:blipFill>
                <a:blip r:embed="rId5"/>
                <a:stretch>
                  <a:fillRect l="-742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2712728"/>
              <a:ext cx="112332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29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7939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41326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91783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7848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4373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25350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2985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e>
                              </m:d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−9=</m:t>
                              </m:r>
                            </m:oMath>
                          </a14:m>
                          <a:r>
                            <a:rPr lang="es-MX" sz="1800" dirty="0"/>
                            <a:t>-1.125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2712728"/>
              <a:ext cx="112332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29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7939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41326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891783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7848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4373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25350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2985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74306" t="-6557" r="-110972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62987" t="-6557" r="-93766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275510" t="-6557" r="-88231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45000" t="-6557" r="-71062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459355" t="-6557" r="-633548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2969" t="-6557" r="-16627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2969" t="-106557" r="-16627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1601758" y="2311341"/>
                <a:ext cx="3004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58" y="2311341"/>
                <a:ext cx="3004862" cy="307777"/>
              </a:xfrm>
              <a:prstGeom prst="rect">
                <a:avLst/>
              </a:prstGeom>
              <a:blipFill>
                <a:blip r:embed="rId7"/>
                <a:stretch>
                  <a:fillRect l="-2434" r="-1217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1601758" y="5924945"/>
                <a:ext cx="2684196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1.5+1.75</m:t>
                        </m:r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2400" dirty="0"/>
                  <a:t>1.625</a:t>
                </a:r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58" y="5924945"/>
                <a:ext cx="2684196" cy="527580"/>
              </a:xfrm>
              <a:prstGeom prst="rect">
                <a:avLst/>
              </a:prstGeom>
              <a:blipFill>
                <a:blip r:embed="rId8"/>
                <a:stretch>
                  <a:fillRect t="-3488" r="-4773" b="-197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Nube 20"/>
          <p:cNvSpPr/>
          <p:nvPr/>
        </p:nvSpPr>
        <p:spPr>
          <a:xfrm>
            <a:off x="6726212" y="1056561"/>
            <a:ext cx="4924213" cy="1656166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Ahora el resultado es positivo solo se modifican los positivos</a:t>
            </a:r>
          </a:p>
          <a:p>
            <a:pPr algn="ctr"/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917409"/>
                  </p:ext>
                </p:extLst>
              </p:nvPr>
            </p:nvGraphicFramePr>
            <p:xfrm>
              <a:off x="417204" y="3726424"/>
              <a:ext cx="1123322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𝟕𝟓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−9=2.484375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3.609375</m:t>
                                </m:r>
                              </m:oMath>
                            </m:oMathPara>
                          </a14:m>
                          <a:endParaRPr lang="es-MX" sz="1800" dirty="0"/>
                        </a:p>
                        <a:p>
                          <a:pPr algn="ctr"/>
                          <a:endParaRPr lang="es-MX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917409"/>
                  </p:ext>
                </p:extLst>
              </p:nvPr>
            </p:nvGraphicFramePr>
            <p:xfrm>
              <a:off x="417204" y="3726424"/>
              <a:ext cx="1123322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62420" t="-3774" r="-915287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344172" t="-3774" r="-69018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509859" t="-3774" r="-69225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03341" t="-3774" r="-1730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208511" t="-3774" r="-2837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4421229"/>
              <a:ext cx="1123322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/>
                            <a:t>3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2.484375</m:t>
                                </m:r>
                              </m:oMath>
                            </m:oMathPara>
                          </a14:m>
                          <a:endParaRPr lang="es-MX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𝟔𝟐𝟓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MX" sz="1600" b="1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s-MX" sz="1600" b="1" i="1" smtClean="0">
                                      <a:latin typeface="Cambria Math" panose="02040503050406030204" pitchFamily="18" charset="0"/>
                                    </a:rPr>
                                    <m:t>𝟔𝟐𝟓</m:t>
                                  </m:r>
                                </m:e>
                              </m:d>
                              <m:r>
                                <a:rPr lang="es-MX" sz="16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600" b="0" i="1" smtClean="0">
                                          <a:latin typeface="Cambria Math" panose="02040503050406030204" pitchFamily="18" charset="0"/>
                                        </a:rPr>
                                        <m:t>1.625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600" b="0" i="1" smtClean="0">
                                          <a:latin typeface="Cambria Math" panose="02040503050406030204" pitchFamily="18" charset="0"/>
                                        </a:rPr>
                                        <m:t>1.625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−9=</m:t>
                              </m:r>
                            </m:oMath>
                          </a14:m>
                          <a:r>
                            <a:rPr lang="es-MX" sz="1600" dirty="0"/>
                            <a:t>0.572265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MX" sz="1600" u="none" strike="noStrike" dirty="0" smtClean="0">
                                    <a:effectLst/>
                                  </a:rPr>
                                  <m:t>1.912109</m:t>
                                </m:r>
                              </m:oMath>
                            </m:oMathPara>
                          </a14:m>
                          <a:endParaRPr lang="es-MX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ctr"/>
                          <a:endParaRPr lang="es-MX" sz="1600" i="1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03" y="4421229"/>
              <a:ext cx="11233220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81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893185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56085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05765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993824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864324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10773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858922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/>
                            <a:t>3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62420" t="-4167" r="-915287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344172" t="-4167" r="-69018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509859" t="-4167" r="-69225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03341" t="-4167" r="-17303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208511" t="-4167" r="-2837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Flecha izquierda 30"/>
          <p:cNvSpPr/>
          <p:nvPr/>
        </p:nvSpPr>
        <p:spPr>
          <a:xfrm rot="16200000">
            <a:off x="8742062" y="2865815"/>
            <a:ext cx="1306865" cy="414351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1014949-4474-4DC2-9342-D8AD4AB90201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48BF7F35-284E-42AA-861B-D35796F257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2540708D-28FF-41F9-947C-CC04287B8D91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0C0E29F-CED0-4E57-AD1D-F6222A4629D7}"/>
                  </a:ext>
                </a:extLst>
              </p:cNvPr>
              <p:cNvSpPr txBox="1"/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0C0E29F-CED0-4E57-AD1D-F6222A462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09DC053A-CB8C-47C9-ABD3-32AEA9748A9D}"/>
              </a:ext>
            </a:extLst>
          </p:cNvPr>
          <p:cNvSpPr txBox="1"/>
          <p:nvPr/>
        </p:nvSpPr>
        <p:spPr>
          <a:xfrm>
            <a:off x="3776752" y="302152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6" name="Marcador de posición de contenido 17">
            <a:extLst>
              <a:ext uri="{FF2B5EF4-FFF2-40B4-BE49-F238E27FC236}">
                <a16:creationId xmlns:a16="http://schemas.microsoft.com/office/drawing/2014/main" id="{955EA53A-BBCC-4965-B754-40F61780E9D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27" name="Marcador de posición de contenido 17">
            <a:extLst>
              <a:ext uri="{FF2B5EF4-FFF2-40B4-BE49-F238E27FC236}">
                <a16:creationId xmlns:a16="http://schemas.microsoft.com/office/drawing/2014/main" id="{FEAC039D-D2E1-4651-AAF2-EB2C12FE91A0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FDB4B8E7-689C-4A3D-A2D3-E2F2BB15CF6A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2DCDA72-63C1-4B35-8A2C-0C53F4C4387E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8278C6F-D2AF-4E3F-B3CF-705B64249B1F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95717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3B1A5561-2598-45C2-BB08-92CFE12CD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194243" y="2050884"/>
                <a:ext cx="32901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−9=−6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43" y="2050884"/>
                <a:ext cx="3290196" cy="307777"/>
              </a:xfrm>
              <a:prstGeom prst="rect">
                <a:avLst/>
              </a:prstGeom>
              <a:blipFill>
                <a:blip r:embed="rId4"/>
                <a:stretch>
                  <a:fillRect l="-741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34168"/>
                  </p:ext>
                </p:extLst>
              </p:nvPr>
            </p:nvGraphicFramePr>
            <p:xfrm>
              <a:off x="191524" y="2907044"/>
              <a:ext cx="11820243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6912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25353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9051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38386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29617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93047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22376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4403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e>
                              </m:d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800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−9=</m:t>
                              </m:r>
                            </m:oMath>
                          </a14:m>
                          <a:r>
                            <a:rPr lang="es-MX" sz="1800" dirty="0"/>
                            <a:t>-1.125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34168"/>
                  </p:ext>
                </p:extLst>
              </p:nvPr>
            </p:nvGraphicFramePr>
            <p:xfrm>
              <a:off x="191524" y="2907044"/>
              <a:ext cx="11820243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6912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25353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99051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38386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29617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93047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22376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4403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73684" t="-6452" r="-1105921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161963" t="-6452" r="-931288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277273" t="-6452" r="-885714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343787" t="-6452" r="-707101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460123" t="-6452" r="-633129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110801" t="-6452" r="-25243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110801" t="-108197" r="-25243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i="1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49939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259180" y="2497205"/>
                <a:ext cx="3004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−9=7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0" y="2497205"/>
                <a:ext cx="3004862" cy="307777"/>
              </a:xfrm>
              <a:prstGeom prst="rect">
                <a:avLst/>
              </a:prstGeom>
              <a:blipFill>
                <a:blip r:embed="rId6"/>
                <a:stretch>
                  <a:fillRect l="-2439" r="-1423" b="-4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Nube 20"/>
          <p:cNvSpPr/>
          <p:nvPr/>
        </p:nvSpPr>
        <p:spPr>
          <a:xfrm>
            <a:off x="7087555" y="1212841"/>
            <a:ext cx="4924213" cy="1656166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Ahora el resultado es positivo solo se modifican los positivos</a:t>
            </a:r>
          </a:p>
          <a:p>
            <a:pPr algn="ctr"/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2882637"/>
                  </p:ext>
                </p:extLst>
              </p:nvPr>
            </p:nvGraphicFramePr>
            <p:xfrm>
              <a:off x="191525" y="3886872"/>
              <a:ext cx="11820242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752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39861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604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309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5759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09492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34425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4403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𝟕𝟓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−9=2.484375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3.609375</m:t>
                                </m:r>
                              </m:oMath>
                            </m:oMathPara>
                          </a14:m>
                          <a:endParaRPr lang="es-MX" sz="1800" dirty="0"/>
                        </a:p>
                        <a:p>
                          <a:pPr algn="ctr"/>
                          <a:endParaRPr lang="es-MX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a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2882637"/>
                  </p:ext>
                </p:extLst>
              </p:nvPr>
            </p:nvGraphicFramePr>
            <p:xfrm>
              <a:off x="191525" y="3886872"/>
              <a:ext cx="11820242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752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39861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604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309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5759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09492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34425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4403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rgbClr val="FF0000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7"/>
                          <a:stretch>
                            <a:fillRect l="-162424" t="-3774" r="-91636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7"/>
                          <a:stretch>
                            <a:fillRect l="-345029" t="-3774" r="-692398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7"/>
                          <a:stretch>
                            <a:fillRect l="-507333" t="-3774" r="-68933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7"/>
                          <a:stretch>
                            <a:fillRect l="-110291" t="-3774" r="-25182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7"/>
                          <a:stretch>
                            <a:fillRect l="-851471" t="-3774" r="-1961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69195"/>
                  </p:ext>
                </p:extLst>
              </p:nvPr>
            </p:nvGraphicFramePr>
            <p:xfrm>
              <a:off x="191523" y="4446213"/>
              <a:ext cx="11820243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752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39861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604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309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5759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09492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5700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21456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/>
                            <a:t>3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2.484375</m:t>
                                </m:r>
                              </m:oMath>
                            </m:oMathPara>
                          </a14:m>
                          <a:endParaRPr lang="es-MX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𝟔𝟐𝟓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𝟔𝟐𝟓</m:t>
                                    </m:r>
                                  </m:e>
                                </m:d>
                                <m:r>
                                  <a:rPr lang="es-MX" sz="16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1.625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1.625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−9=0.572265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MX" sz="1600" u="none" strike="noStrike" dirty="0" smtClean="0">
                                    <a:effectLst/>
                                  </a:rPr>
                                  <m:t>1.912109</m:t>
                                </m:r>
                              </m:oMath>
                            </m:oMathPara>
                          </a14:m>
                          <a:endParaRPr lang="es-MX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ctr"/>
                          <a:endParaRPr lang="es-MX" sz="1600" i="1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69195"/>
                  </p:ext>
                </p:extLst>
              </p:nvPr>
            </p:nvGraphicFramePr>
            <p:xfrm>
              <a:off x="191523" y="4446213"/>
              <a:ext cx="11820243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7525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39861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6048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309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5759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09492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57004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21456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/>
                            <a:t>3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8"/>
                          <a:stretch>
                            <a:fillRect l="-162424" t="-4167" r="-91636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8"/>
                          <a:stretch>
                            <a:fillRect l="-345029" t="-4167" r="-69239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8"/>
                          <a:stretch>
                            <a:fillRect l="-507333" t="-4167" r="-689333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8"/>
                          <a:stretch>
                            <a:fillRect l="-109759" t="-4167" r="-24578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8"/>
                          <a:stretch>
                            <a:fillRect l="-870500" t="-4167" r="-2000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Flecha izquierda 30"/>
          <p:cNvSpPr/>
          <p:nvPr/>
        </p:nvSpPr>
        <p:spPr>
          <a:xfrm rot="16200000">
            <a:off x="9076877" y="3639815"/>
            <a:ext cx="1359921" cy="414351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86531"/>
                  </p:ext>
                </p:extLst>
              </p:nvPr>
            </p:nvGraphicFramePr>
            <p:xfrm>
              <a:off x="180235" y="5040206"/>
              <a:ext cx="1183153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182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4075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7009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400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6758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1036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51711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3274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𝟏𝟐𝟓</m:t>
                                </m:r>
                              </m:oMath>
                            </m:oMathPara>
                          </a14:m>
                          <a:endParaRPr lang="es-MX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0.572265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𝟓𝟔𝟐𝟓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s-MX" sz="1800" b="1" i="1" smtClean="0">
                                        <a:latin typeface="Cambria Math" panose="02040503050406030204" pitchFamily="18" charset="0"/>
                                      </a:rPr>
                                      <m:t>𝟓𝟔𝟐𝟓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1.5625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  <m:t>1.5625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−9=0.302490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/>
                            <a:t>0.874755</a:t>
                          </a:r>
                        </a:p>
                        <a:p>
                          <a:pPr algn="ctr"/>
                          <a:endParaRPr lang="es-MX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86531"/>
                  </p:ext>
                </p:extLst>
              </p:nvPr>
            </p:nvGraphicFramePr>
            <p:xfrm>
              <a:off x="180235" y="5040206"/>
              <a:ext cx="11831530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182">
                      <a:extLst>
                        <a:ext uri="{9D8B030D-6E8A-4147-A177-3AD203B41FA5}">
                          <a16:colId xmlns:a16="http://schemas.microsoft.com/office/drawing/2014/main" val="2658285329"/>
                        </a:ext>
                      </a:extLst>
                    </a:gridCol>
                    <a:gridCol w="940758">
                      <a:extLst>
                        <a:ext uri="{9D8B030D-6E8A-4147-A177-3AD203B41FA5}">
                          <a16:colId xmlns:a16="http://schemas.microsoft.com/office/drawing/2014/main" val="595815868"/>
                        </a:ext>
                      </a:extLst>
                    </a:gridCol>
                    <a:gridCol w="1007009">
                      <a:extLst>
                        <a:ext uri="{9D8B030D-6E8A-4147-A177-3AD203B41FA5}">
                          <a16:colId xmlns:a16="http://schemas.microsoft.com/office/drawing/2014/main" val="3423082757"/>
                        </a:ext>
                      </a:extLst>
                    </a:gridCol>
                    <a:gridCol w="954008">
                      <a:extLst>
                        <a:ext uri="{9D8B030D-6E8A-4147-A177-3AD203B41FA5}">
                          <a16:colId xmlns:a16="http://schemas.microsoft.com/office/drawing/2014/main" val="2822647526"/>
                        </a:ext>
                      </a:extLst>
                    </a:gridCol>
                    <a:gridCol w="1046758">
                      <a:extLst>
                        <a:ext uri="{9D8B030D-6E8A-4147-A177-3AD203B41FA5}">
                          <a16:colId xmlns:a16="http://schemas.microsoft.com/office/drawing/2014/main" val="2178086169"/>
                        </a:ext>
                      </a:extLst>
                    </a:gridCol>
                    <a:gridCol w="910360">
                      <a:extLst>
                        <a:ext uri="{9D8B030D-6E8A-4147-A177-3AD203B41FA5}">
                          <a16:colId xmlns:a16="http://schemas.microsoft.com/office/drawing/2014/main" val="3765865194"/>
                        </a:ext>
                      </a:extLst>
                    </a:gridCol>
                    <a:gridCol w="5051711">
                      <a:extLst>
                        <a:ext uri="{9D8B030D-6E8A-4147-A177-3AD203B41FA5}">
                          <a16:colId xmlns:a16="http://schemas.microsoft.com/office/drawing/2014/main" val="2510606800"/>
                        </a:ext>
                      </a:extLst>
                    </a:gridCol>
                    <a:gridCol w="1232744">
                      <a:extLst>
                        <a:ext uri="{9D8B030D-6E8A-4147-A177-3AD203B41FA5}">
                          <a16:colId xmlns:a16="http://schemas.microsoft.com/office/drawing/2014/main" val="214504434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61446" t="-3774" r="-911446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1.625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343023" t="-3774" r="-68895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511409" t="-3774" r="-695302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9"/>
                          <a:stretch>
                            <a:fillRect l="-109759" t="-3774" r="-24819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/>
                            <a:t>0.874755</a:t>
                          </a:r>
                        </a:p>
                        <a:p>
                          <a:pPr algn="ctr"/>
                          <a:endParaRPr lang="es-MX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358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4C25B34B-CDA9-4E4F-AF45-119D9F533357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20FE507A-61F1-4A87-AA69-0EBFD87A49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9D7D8C6-A169-42DE-8E0A-2C16E2DADF4A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DFE31A2-E510-4DF7-9C23-0DCA7C3F3E40}"/>
                  </a:ext>
                </a:extLst>
              </p:cNvPr>
              <p:cNvSpPr txBox="1"/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DFE31A2-E510-4DF7-9C23-0DCA7C3F3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58" y="691147"/>
                <a:ext cx="3281219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016E0D46-6ECF-4D1B-B147-258AA1E4FB2C}"/>
              </a:ext>
            </a:extLst>
          </p:cNvPr>
          <p:cNvSpPr txBox="1"/>
          <p:nvPr/>
        </p:nvSpPr>
        <p:spPr>
          <a:xfrm>
            <a:off x="3776752" y="302152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6" name="Marcador de posición de contenido 17">
            <a:extLst>
              <a:ext uri="{FF2B5EF4-FFF2-40B4-BE49-F238E27FC236}">
                <a16:creationId xmlns:a16="http://schemas.microsoft.com/office/drawing/2014/main" id="{A20B41FA-FFDC-46C4-A594-79E743D5BC50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27" name="Marcador de posición de contenido 17">
            <a:extLst>
              <a:ext uri="{FF2B5EF4-FFF2-40B4-BE49-F238E27FC236}">
                <a16:creationId xmlns:a16="http://schemas.microsoft.com/office/drawing/2014/main" id="{05F60281-3E19-4CB2-A65A-8D8C4BCACB34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CFF7D1F2-C394-4526-851D-82933BFE79F4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F970BE34-D9D9-4458-BE1C-CCCD033337B4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9125F009-F385-4C87-9875-8DC8645FC79B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24663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1" grpId="1" animBg="1"/>
      <p:bldP spid="31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2479C02-013E-441A-8669-E66887FF9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p:graphicFrame>
        <p:nvGraphicFramePr>
          <p:cNvPr id="5" name="Objeto 4"/>
          <p:cNvGraphicFramePr>
            <a:graphicFrameLocks noChangeAspect="1"/>
          </p:cNvGraphicFramePr>
          <p:nvPr>
            <p:extLst/>
          </p:nvPr>
        </p:nvGraphicFramePr>
        <p:xfrm>
          <a:off x="525930" y="1117599"/>
          <a:ext cx="11157719" cy="4515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Hoja de cálculo" r:id="rId5" imgW="6347407" imgH="2568119" progId="Excel.Sheet.12">
                  <p:embed/>
                </p:oleObj>
              </mc:Choice>
              <mc:Fallback>
                <p:oleObj name="Hoja de cálculo" r:id="rId5" imgW="6347407" imgH="2568119" progId="Excel.Sheet.12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930" y="1117599"/>
                        <a:ext cx="11157719" cy="4515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Nube 6"/>
          <p:cNvSpPr/>
          <p:nvPr/>
        </p:nvSpPr>
        <p:spPr>
          <a:xfrm>
            <a:off x="4120446" y="5892685"/>
            <a:ext cx="4991946" cy="626533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Solución de la ecuación</a:t>
            </a:r>
          </a:p>
          <a:p>
            <a:pPr algn="ctr"/>
            <a:endParaRPr lang="es-MX" dirty="0"/>
          </a:p>
        </p:txBody>
      </p:sp>
      <p:sp>
        <p:nvSpPr>
          <p:cNvPr id="8" name="Flecha izquierda 7"/>
          <p:cNvSpPr/>
          <p:nvPr/>
        </p:nvSpPr>
        <p:spPr>
          <a:xfrm rot="5400000">
            <a:off x="7941758" y="5685510"/>
            <a:ext cx="518160" cy="414351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Marcador de posición de contenido 17">
            <a:extLst>
              <a:ext uri="{FF2B5EF4-FFF2-40B4-BE49-F238E27FC236}">
                <a16:creationId xmlns:a16="http://schemas.microsoft.com/office/drawing/2014/main" id="{58C5C3FF-A272-4F62-93B1-71A9780A9144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11" name="Marcador de posición de contenido 17">
            <a:extLst>
              <a:ext uri="{FF2B5EF4-FFF2-40B4-BE49-F238E27FC236}">
                <a16:creationId xmlns:a16="http://schemas.microsoft.com/office/drawing/2014/main" id="{E00CDA9D-B5C1-4AE2-9F96-9BAD8AAFEA01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009243C-EF0F-436C-9A16-2067886878F5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69BC2563-6A39-4D65-A980-AA9C568410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9B06322-F736-4CC7-B1E0-23EE5DA0DB44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p:sp>
        <p:nvSpPr>
          <p:cNvPr id="15" name="Título 1">
            <a:extLst>
              <a:ext uri="{FF2B5EF4-FFF2-40B4-BE49-F238E27FC236}">
                <a16:creationId xmlns:a16="http://schemas.microsoft.com/office/drawing/2014/main" id="{7EB23758-4F0A-40AB-A6F2-68A478E5782C}"/>
              </a:ext>
            </a:extLst>
          </p:cNvPr>
          <p:cNvSpPr txBox="1">
            <a:spLocks/>
          </p:cNvSpPr>
          <p:nvPr/>
        </p:nvSpPr>
        <p:spPr>
          <a:xfrm>
            <a:off x="8752861" y="172694"/>
            <a:ext cx="1379875" cy="529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Método 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B641EE8-CCB6-4473-8D6B-61E14C3FFE1D}"/>
              </a:ext>
            </a:extLst>
          </p:cNvPr>
          <p:cNvSpPr txBox="1">
            <a:spLocks/>
          </p:cNvSpPr>
          <p:nvPr/>
        </p:nvSpPr>
        <p:spPr>
          <a:xfrm>
            <a:off x="10009706" y="108066"/>
            <a:ext cx="635366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 rtl="0">
              <a:defRPr lang="es-es"/>
            </a:defPPr>
            <a:lvl1pPr>
              <a:spcBef>
                <a:spcPct val="0"/>
              </a:spcBef>
              <a:buNone/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de </a:t>
            </a:r>
            <a:endParaRPr lang="es-ES" sz="2800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169DED-8761-4ECF-B5DF-666F0ECE253B}"/>
              </a:ext>
            </a:extLst>
          </p:cNvPr>
          <p:cNvSpPr txBox="1">
            <a:spLocks/>
          </p:cNvSpPr>
          <p:nvPr/>
        </p:nvSpPr>
        <p:spPr>
          <a:xfrm>
            <a:off x="10482748" y="99158"/>
            <a:ext cx="1591955" cy="6320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Bisección  </a:t>
            </a:r>
          </a:p>
        </p:txBody>
      </p:sp>
    </p:spTree>
    <p:extLst>
      <p:ext uri="{BB962C8B-B14F-4D97-AF65-F5344CB8AC3E}">
        <p14:creationId xmlns:p14="http://schemas.microsoft.com/office/powerpoint/2010/main" val="96916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8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F76634-89B6-448B-B114-3ED10257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p:sp>
        <p:nvSpPr>
          <p:cNvPr id="10" name="Marcador de posición de contenido 17">
            <a:extLst>
              <a:ext uri="{FF2B5EF4-FFF2-40B4-BE49-F238E27FC236}">
                <a16:creationId xmlns:a16="http://schemas.microsoft.com/office/drawing/2014/main" id="{D58A3B48-9A68-4EAA-8B76-6104BEFF00F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11" name="Marcador de posición de contenido 17">
            <a:extLst>
              <a:ext uri="{FF2B5EF4-FFF2-40B4-BE49-F238E27FC236}">
                <a16:creationId xmlns:a16="http://schemas.microsoft.com/office/drawing/2014/main" id="{DF45FDF5-EE6F-4B16-A690-940ABB795056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B9E51FF-5244-4769-8969-E3E63BF31F1A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89F478E-4491-4ADB-B758-1A46E8E854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F47028F6-FA40-44DE-835A-1D7B3B25F6FA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p:sp>
        <p:nvSpPr>
          <p:cNvPr id="5" name="CuadroTexto 4"/>
          <p:cNvSpPr txBox="1"/>
          <p:nvPr/>
        </p:nvSpPr>
        <p:spPr>
          <a:xfrm>
            <a:off x="682754" y="1278526"/>
            <a:ext cx="3250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Balloon Craft" panose="03000600000000060000" pitchFamily="66" charset="0"/>
                <a:cs typeface="Times New Roman" panose="02020603050405020304" pitchFamily="18" charset="0"/>
              </a:rPr>
              <a:t>Ejercicio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B3BF58-5096-465B-A654-DB910098584E}"/>
                  </a:ext>
                </a:extLst>
              </p:cNvPr>
              <p:cNvSpPr txBox="1"/>
              <p:nvPr/>
            </p:nvSpPr>
            <p:spPr>
              <a:xfrm>
                <a:off x="795573" y="2386300"/>
                <a:ext cx="35648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1.−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B3BF58-5096-465B-A654-DB910098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3" y="2386300"/>
                <a:ext cx="3564887" cy="307777"/>
              </a:xfrm>
              <a:prstGeom prst="rect">
                <a:avLst/>
              </a:prstGeom>
              <a:blipFill>
                <a:blip r:embed="rId6"/>
                <a:stretch>
                  <a:fillRect l="-1199" r="-1027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2420F6E-3F7B-432D-9F0A-889226D754DF}"/>
                  </a:ext>
                </a:extLst>
              </p:cNvPr>
              <p:cNvSpPr txBox="1"/>
              <p:nvPr/>
            </p:nvSpPr>
            <p:spPr>
              <a:xfrm>
                <a:off x="795573" y="3391965"/>
                <a:ext cx="29885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.−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2420F6E-3F7B-432D-9F0A-889226D75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3" y="3391965"/>
                <a:ext cx="2988575" cy="307777"/>
              </a:xfrm>
              <a:prstGeom prst="rect">
                <a:avLst/>
              </a:prstGeom>
              <a:blipFill>
                <a:blip r:embed="rId7"/>
                <a:stretch>
                  <a:fillRect l="-1429" r="-1224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1DB58F6-25F6-49B2-B773-C39634D33FF9}"/>
                  </a:ext>
                </a:extLst>
              </p:cNvPr>
              <p:cNvSpPr txBox="1"/>
              <p:nvPr/>
            </p:nvSpPr>
            <p:spPr>
              <a:xfrm>
                <a:off x="795573" y="4397630"/>
                <a:ext cx="30975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3.−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MX" sz="2000" dirty="0"/>
                  <a:t>9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1DB58F6-25F6-49B2-B773-C39634D3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3" y="4397630"/>
                <a:ext cx="3097515" cy="307777"/>
              </a:xfrm>
              <a:prstGeom prst="rect">
                <a:avLst/>
              </a:prstGeom>
              <a:blipFill>
                <a:blip r:embed="rId8"/>
                <a:stretch>
                  <a:fillRect l="-2953" t="-23529" r="-4134" b="-509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85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F76634-89B6-448B-B114-3ED10257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8858" y="940193"/>
            <a:ext cx="5712447" cy="5371042"/>
          </a:xfrm>
          <a:prstGeom prst="rect">
            <a:avLst/>
          </a:prstGeom>
          <a:effectLst/>
        </p:spPr>
      </p:pic>
      <p:sp>
        <p:nvSpPr>
          <p:cNvPr id="10" name="Marcador de posición de contenido 17">
            <a:extLst>
              <a:ext uri="{FF2B5EF4-FFF2-40B4-BE49-F238E27FC236}">
                <a16:creationId xmlns:a16="http://schemas.microsoft.com/office/drawing/2014/main" id="{D58A3B48-9A68-4EAA-8B76-6104BEFF00FF}"/>
              </a:ext>
            </a:extLst>
          </p:cNvPr>
          <p:cNvSpPr txBox="1">
            <a:spLocks/>
          </p:cNvSpPr>
          <p:nvPr/>
        </p:nvSpPr>
        <p:spPr>
          <a:xfrm>
            <a:off x="8188110" y="6307257"/>
            <a:ext cx="3950491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400" dirty="0">
                <a:latin typeface="Rockwell Extra Bold" panose="02060903040505020403" pitchFamily="18" charset="0"/>
                <a:cs typeface="Segoe UI" panose="020B0502040204020203" pitchFamily="34" charset="0"/>
              </a:rPr>
              <a:t>METODOS NUMERICOS </a:t>
            </a:r>
          </a:p>
        </p:txBody>
      </p:sp>
      <p:sp>
        <p:nvSpPr>
          <p:cNvPr id="11" name="Marcador de posición de contenido 17">
            <a:extLst>
              <a:ext uri="{FF2B5EF4-FFF2-40B4-BE49-F238E27FC236}">
                <a16:creationId xmlns:a16="http://schemas.microsoft.com/office/drawing/2014/main" id="{DF45FDF5-EE6F-4B16-A690-940ABB795056}"/>
              </a:ext>
            </a:extLst>
          </p:cNvPr>
          <p:cNvSpPr txBox="1">
            <a:spLocks/>
          </p:cNvSpPr>
          <p:nvPr/>
        </p:nvSpPr>
        <p:spPr>
          <a:xfrm>
            <a:off x="8546157" y="6599649"/>
            <a:ext cx="2985822" cy="405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800" i="1" dirty="0">
                <a:latin typeface="Bradley Hand ITC" panose="03070402050302030203" pitchFamily="66" charset="0"/>
                <a:cs typeface="Segoe UI" panose="020B0502040204020203" pitchFamily="34" charset="0"/>
              </a:rPr>
              <a:t>M. en C. Francisco Rivero Briseño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B9E51FF-5244-4769-8969-E3E63BF31F1A}"/>
              </a:ext>
            </a:extLst>
          </p:cNvPr>
          <p:cNvGrpSpPr/>
          <p:nvPr/>
        </p:nvGrpSpPr>
        <p:grpSpPr>
          <a:xfrm>
            <a:off x="198840" y="249182"/>
            <a:ext cx="2721913" cy="691011"/>
            <a:chOff x="8011315" y="694786"/>
            <a:chExt cx="3435659" cy="1061257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89F478E-4491-4ADB-B758-1A46E8E854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67" b="89333" l="9859" r="89671">
                          <a14:foregroundMark x1="23005" y1="17333" x2="28638" y2="16000"/>
                          <a14:foregroundMark x1="27230" y1="22667" x2="27230" y2="41333"/>
                          <a14:foregroundMark x1="38028" y1="20000" x2="38028" y2="33333"/>
                          <a14:foregroundMark x1="40376" y1="30667" x2="39437" y2="30667"/>
                          <a14:foregroundMark x1="41784" y1="45333" x2="37089" y2="45333"/>
                          <a14:foregroundMark x1="43192" y1="30667" x2="41315" y2="30667"/>
                          <a14:foregroundMark x1="50235" y1="18667" x2="51174" y2="24000"/>
                          <a14:foregroundMark x1="70788" y1="7447" x2="73709" y2="8000"/>
                          <a14:foregroundMark x1="69475" y1="7198" x2="70635" y2="7418"/>
                          <a14:foregroundMark x1="66667" y1="6667" x2="68984" y2="7106"/>
                          <a14:backgroundMark x1="70423" y1="13333" x2="71362" y2="44000"/>
                          <a14:backgroundMark x1="70892" y1="9333" x2="70892" y2="9333"/>
                          <a14:backgroundMark x1="72300" y1="9333" x2="72300" y2="9333"/>
                          <a14:backgroundMark x1="69953" y1="9333" x2="69484" y2="9333"/>
                          <a14:backgroundMark x1="69953" y1="1333" x2="69953" y2="0"/>
                        </a14:backgroundRemoval>
                      </a14:imgEffect>
                    </a14:imgLayer>
                  </a14:imgProps>
                </a:ext>
              </a:extLst>
            </a:blip>
            <a:srcRect l="18800" t="4026" r="13322" b="43221"/>
            <a:stretch/>
          </p:blipFill>
          <p:spPr>
            <a:xfrm>
              <a:off x="8443923" y="694786"/>
              <a:ext cx="2570442" cy="703398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F47028F6-FA40-44DE-835A-1D7B3B25F6FA}"/>
                </a:ext>
              </a:extLst>
            </p:cNvPr>
            <p:cNvSpPr txBox="1"/>
            <p:nvPr/>
          </p:nvSpPr>
          <p:spPr>
            <a:xfrm>
              <a:off x="8011315" y="1320277"/>
              <a:ext cx="3435659" cy="435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Tecnológico de Estudios Superiores de </a:t>
              </a:r>
            </a:p>
            <a:p>
              <a:pPr algn="ctr"/>
              <a:r>
                <a:rPr lang="es-ES" sz="800" dirty="0">
                  <a:latin typeface="Rockwell Extra Bold" panose="02060903040505020403" pitchFamily="18" charset="0"/>
                </a:rPr>
                <a:t>Ixtapaluca</a:t>
              </a:r>
              <a:endParaRPr lang="es-MX" sz="800" dirty="0">
                <a:latin typeface="Rockwell Extra Bold" panose="02060903040505020403" pitchFamily="18" charset="0"/>
              </a:endParaRPr>
            </a:p>
          </p:txBody>
        </p:sp>
      </p:grpSp>
      <p:sp>
        <p:nvSpPr>
          <p:cNvPr id="5" name="CuadroTexto 4"/>
          <p:cNvSpPr txBox="1"/>
          <p:nvPr/>
        </p:nvSpPr>
        <p:spPr>
          <a:xfrm>
            <a:off x="4393620" y="2408030"/>
            <a:ext cx="3002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Gracias 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300660" y="3862359"/>
            <a:ext cx="71887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F. Francisco Rivero Briseño 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909" y="249182"/>
            <a:ext cx="2580640" cy="222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7727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odo de Biseccion" id="{198F5A19-57CF-4495-BFA9-038A8BB918AD}" vid="{0C548A6F-01FB-44CE-A526-7C1E2CCD147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http://purl.org/dc/elements/1.1/"/>
    <ds:schemaRef ds:uri="16c05727-aa75-4e4a-9b5f-8a80a1165891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Metodo de Biseccion</Template>
  <TotalTime>0</TotalTime>
  <Words>783</Words>
  <Application>Microsoft Office PowerPoint</Application>
  <PresentationFormat>Panorámica</PresentationFormat>
  <Paragraphs>217</Paragraphs>
  <Slides>10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Arial</vt:lpstr>
      <vt:lpstr>Balloon Craft</vt:lpstr>
      <vt:lpstr>Bradley Hand ITC</vt:lpstr>
      <vt:lpstr>Calibri</vt:lpstr>
      <vt:lpstr>Cambria Math</vt:lpstr>
      <vt:lpstr>Rockwell Extra Bold</vt:lpstr>
      <vt:lpstr>Segoe UI</vt:lpstr>
      <vt:lpstr>Segoe UI Light</vt:lpstr>
      <vt:lpstr>Times New Roman</vt:lpstr>
      <vt:lpstr>WelcomeDoc</vt:lpstr>
      <vt:lpstr>Hoja de cálculo</vt:lpstr>
      <vt:lpstr>Método  </vt:lpstr>
      <vt:lpstr>Método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2025-04-28T18:16:18Z</dcterms:created>
  <dcterms:modified xsi:type="dcterms:W3CDTF">2025-04-28T18:16:56Z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