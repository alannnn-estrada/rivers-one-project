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3" r:id="rId2"/>
    <p:sldId id="256" r:id="rId3"/>
    <p:sldId id="265" r:id="rId4"/>
    <p:sldId id="257" r:id="rId5"/>
    <p:sldId id="258" r:id="rId6"/>
    <p:sldId id="259" r:id="rId7"/>
    <p:sldId id="260" r:id="rId8"/>
    <p:sldId id="262" r:id="rId9"/>
    <p:sldId id="261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4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B4D17-FD1F-49F5-965B-C19DE9281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521F74-03B3-486C-A7A4-11FC62017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24410D-383E-47B5-A901-5A541E18C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187A9E-44CA-4071-8991-1356142F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E141CD-0BA8-4C0B-9596-D0E3C761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22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D38DB-4A85-43E7-81D9-46205DF5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0391B3-AB0F-431D-8192-5D63FD999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521E3C-55BD-47FD-9BB8-3D722A9C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26F72F-6A74-4B5E-AEA2-9F74FEA2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F04902-DACA-4909-A0F8-E527CADB1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4529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74F3E-DCAC-440F-9109-8907EC4D8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1C42BF-16D0-4AD8-B681-071AD3A3D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A9C92B-8FB6-4E5E-AA4E-CF8D8B78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3FFD8C-7807-4001-BA1D-672BD1C7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6D62DE-8CF9-4A6F-BD3E-F8CCDA9E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1162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8687E-C0CB-45DD-8C96-236DFF1C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5E7950-67DC-4898-AEDF-A4A442644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060E98-1C10-404C-9BD7-E9C91B658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CC118E-0830-49BA-ABDF-6E67F382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3263B1-FAB8-48AE-BF38-8DE3B26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99A10B-44EF-481C-84A1-5EEDAFA0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135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42000-CB33-4DC1-BF26-CBA350A5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E94E26-B581-46E7-BE0A-B5791D2D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2414CB-2987-407E-8929-0C4556440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5F4ED96-90C6-4925-A163-9DB3BDCB47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96276B0-400D-45E2-82B8-16E3E89E4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205A72-7E37-4E5B-8552-30F4ABBD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A7E120-7B1D-47D2-B9F9-17A89BCB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336556-C6C5-4873-9814-29486E8E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565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0C12D-57AA-49E1-87DB-F512E24C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577F08-CB8F-4FDF-BEAC-58961B86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55B58B-F601-47B9-A87B-899E9C7E3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022563-A23F-42CE-8CA0-6C39618F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372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1EBA32-C395-4F84-A8E7-97A2ECCCB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13BBC5-9FF1-4CD0-9252-8C211FAD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1CAAB-CE26-458F-9D1F-4E833777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692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BFE3A-9B46-4A86-8A16-0D00296E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24AC3D-6E23-4211-837B-40D5C9330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615B56-3F47-4D7A-87C7-B9A54C7F3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5BFBFC-1A65-4DF0-8600-80D33709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7C224F-6762-484D-B6DE-07303925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452C80-C385-4C6B-B41E-E65639A2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277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3096E-ED5D-4F3A-8AB5-4DEBA3F1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8BCC6D-0B94-4187-9B6E-9C558CE42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D0EEEE-FE23-4F1A-9E6F-D53C95678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E03B8B-990C-45DF-8047-7D4D834D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90861D-0208-49F1-BCB3-99EBCA56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F069A2-AEA5-4CFB-8810-3F1F13E9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83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12AAD-B43E-46D9-AC1A-7CAD0407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ECC8AC-F7BF-4BCE-BC85-E3B88ED44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CB6D9C-8D6A-410F-A12F-C383B85AD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440695-20B9-445A-84FB-D2FB79B16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ADCC1E-ED59-4E10-94D1-81021EE8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894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B56273-6D67-4BA4-ADE7-BEF046126F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77BCB5-676B-4C38-ABEE-872AD3B30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3561F6-6E09-4B61-BECD-29EDE879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19F839-25EF-4A3C-9239-956600E0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BECC46-5400-4363-B250-41F876F3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311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B62CC15-2AC0-4CB8-9EFC-E0FBA3158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AD80C4-A1A1-4ACA-893A-83937240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86D09B-F155-43FC-B0F9-A401B1271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500C1-DAB1-45F5-B87E-31BAFC2AAC65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FAE359-7653-4C9F-AAC6-A8AB0BDFF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622553-883E-46B9-8965-6B103C947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E7A0F-243C-419A-90B8-D1604F2075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9934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9821718-94BB-93A0-784B-DF2BFD52713E}"/>
              </a:ext>
            </a:extLst>
          </p:cNvPr>
          <p:cNvSpPr txBox="1"/>
          <p:nvPr/>
        </p:nvSpPr>
        <p:spPr>
          <a:xfrm>
            <a:off x="-10695986" y="7362478"/>
            <a:ext cx="98100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8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Newton-</a:t>
            </a:r>
            <a:r>
              <a:rPr lang="es-MX" sz="8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Rapson</a:t>
            </a:r>
            <a:r>
              <a:rPr lang="es-MX" sz="8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BC1B781-BDBA-6080-9145-FA6B4E65B59D}"/>
              </a:ext>
            </a:extLst>
          </p:cNvPr>
          <p:cNvSpPr txBox="1"/>
          <p:nvPr/>
        </p:nvSpPr>
        <p:spPr>
          <a:xfrm>
            <a:off x="-6438081" y="121351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r">
              <a:defRPr sz="80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Método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CEDD199-B3EF-4525-431B-863F1C5FC9E4}"/>
              </a:ext>
            </a:extLst>
          </p:cNvPr>
          <p:cNvSpPr txBox="1"/>
          <p:nvPr/>
        </p:nvSpPr>
        <p:spPr>
          <a:xfrm>
            <a:off x="-6438081" y="3222047"/>
            <a:ext cx="6137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r">
              <a:defRPr sz="80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de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BCBFE9A-1029-EB5F-3354-32E412734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02445" y="1270437"/>
            <a:ext cx="2260364" cy="212596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532D7C2-930B-D6E9-CBC8-1CA10E1D71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0118912" y="121072"/>
            <a:ext cx="6529417" cy="6141182"/>
          </a:xfrm>
          <a:prstGeom prst="rect">
            <a:avLst/>
          </a:prstGeom>
        </p:spPr>
      </p:pic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8E5D1522-B553-D7AF-3669-2204B231D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6255 w 12192000"/>
              <a:gd name="connsiteY0" fmla="*/ 138545 h 6858000"/>
              <a:gd name="connsiteX1" fmla="*/ 166255 w 12192000"/>
              <a:gd name="connsiteY1" fmla="*/ 6733309 h 6858000"/>
              <a:gd name="connsiteX2" fmla="*/ 12016509 w 12192000"/>
              <a:gd name="connsiteY2" fmla="*/ 6733309 h 6858000"/>
              <a:gd name="connsiteX3" fmla="*/ 12016509 w 12192000"/>
              <a:gd name="connsiteY3" fmla="*/ 13854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6255" y="138545"/>
                </a:moveTo>
                <a:lnTo>
                  <a:pt x="166255" y="6733309"/>
                </a:lnTo>
                <a:lnTo>
                  <a:pt x="12016509" y="6733309"/>
                </a:lnTo>
                <a:lnTo>
                  <a:pt x="12016509" y="13854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31A302F-5210-D4CA-FD38-503DFE4078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06" r="16463" b="55711"/>
          <a:stretch>
            <a:fillRect/>
          </a:stretch>
        </p:blipFill>
        <p:spPr>
          <a:xfrm>
            <a:off x="4009183" y="2639040"/>
            <a:ext cx="3893272" cy="124472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E08931-A661-E091-9B5E-92395F3BFC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711"/>
          <a:stretch>
            <a:fillRect/>
          </a:stretch>
        </p:blipFill>
        <p:spPr>
          <a:xfrm>
            <a:off x="4191084" y="3998343"/>
            <a:ext cx="3529470" cy="73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96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106E7266-9801-F244-6816-7A4A917CA4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6255 w 12192000"/>
              <a:gd name="connsiteY0" fmla="*/ 138545 h 6858000"/>
              <a:gd name="connsiteX1" fmla="*/ 166255 w 12192000"/>
              <a:gd name="connsiteY1" fmla="*/ 6733309 h 6858000"/>
              <a:gd name="connsiteX2" fmla="*/ 12016509 w 12192000"/>
              <a:gd name="connsiteY2" fmla="*/ 6733309 h 6858000"/>
              <a:gd name="connsiteX3" fmla="*/ 12016509 w 12192000"/>
              <a:gd name="connsiteY3" fmla="*/ 13854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6255" y="138545"/>
                </a:moveTo>
                <a:lnTo>
                  <a:pt x="166255" y="6733309"/>
                </a:lnTo>
                <a:lnTo>
                  <a:pt x="12016509" y="6733309"/>
                </a:lnTo>
                <a:lnTo>
                  <a:pt x="12016509" y="13854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9719A9-51E2-48CB-D97F-592AA9B92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636" y="0"/>
            <a:ext cx="2260364" cy="21259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560672B-C66A-4417-4593-F54C7A7028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563599" y="148781"/>
            <a:ext cx="6529417" cy="614118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3A5C525-5E19-49B9-5EED-F40429D58204}"/>
              </a:ext>
            </a:extLst>
          </p:cNvPr>
          <p:cNvSpPr txBox="1"/>
          <p:nvPr/>
        </p:nvSpPr>
        <p:spPr>
          <a:xfrm>
            <a:off x="5382747" y="6404674"/>
            <a:ext cx="661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Francisco Rivero Briseño I. F.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1C7B4FA-56BE-58B9-7C7A-FC9619502864}"/>
              </a:ext>
            </a:extLst>
          </p:cNvPr>
          <p:cNvSpPr txBox="1"/>
          <p:nvPr/>
        </p:nvSpPr>
        <p:spPr>
          <a:xfrm>
            <a:off x="2321161" y="4243179"/>
            <a:ext cx="98100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8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Newton-</a:t>
            </a:r>
            <a:r>
              <a:rPr lang="es-MX" sz="8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Rapson</a:t>
            </a:r>
            <a:r>
              <a:rPr lang="es-MX" sz="8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8E32748-3A14-2382-939F-605CCF0E9669}"/>
              </a:ext>
            </a:extLst>
          </p:cNvPr>
          <p:cNvSpPr txBox="1"/>
          <p:nvPr/>
        </p:nvSpPr>
        <p:spPr>
          <a:xfrm>
            <a:off x="4178183" y="1467249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r">
              <a:defRPr sz="80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Método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8241CDD-9796-B05B-5EDE-22FE1F4E0A0A}"/>
              </a:ext>
            </a:extLst>
          </p:cNvPr>
          <p:cNvSpPr txBox="1"/>
          <p:nvPr/>
        </p:nvSpPr>
        <p:spPr>
          <a:xfrm>
            <a:off x="3111272" y="2952852"/>
            <a:ext cx="6137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r">
              <a:defRPr sz="80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de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93DD0F3-9848-43B6-6F28-CCEAC94A92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06" r="16463" b="55711"/>
          <a:stretch>
            <a:fillRect/>
          </a:stretch>
        </p:blipFill>
        <p:spPr>
          <a:xfrm>
            <a:off x="291398" y="181109"/>
            <a:ext cx="1804593" cy="5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83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3DD51-A617-B5BA-F542-59177BE2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915237B-DEBB-C943-C963-F4025A7BA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40" y="1321251"/>
            <a:ext cx="4100849" cy="3444713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E480BF20-8DBB-8C19-0DA6-24179A0E29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6255 w 12192000"/>
              <a:gd name="connsiteY0" fmla="*/ 138545 h 6858000"/>
              <a:gd name="connsiteX1" fmla="*/ 166255 w 12192000"/>
              <a:gd name="connsiteY1" fmla="*/ 6733309 h 6858000"/>
              <a:gd name="connsiteX2" fmla="*/ 12016509 w 12192000"/>
              <a:gd name="connsiteY2" fmla="*/ 6733309 h 6858000"/>
              <a:gd name="connsiteX3" fmla="*/ 12016509 w 12192000"/>
              <a:gd name="connsiteY3" fmla="*/ 13854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6255" y="138545"/>
                </a:moveTo>
                <a:lnTo>
                  <a:pt x="166255" y="6733309"/>
                </a:lnTo>
                <a:lnTo>
                  <a:pt x="12016509" y="6733309"/>
                </a:lnTo>
                <a:lnTo>
                  <a:pt x="12016509" y="13854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F918878-489F-860C-8FC1-EFE305CCA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636" y="0"/>
            <a:ext cx="2260364" cy="21259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7D47588-BA9A-7CC9-EB7F-524FCA450B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1563599" y="148781"/>
            <a:ext cx="6529417" cy="614118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23582EF-B64F-C2B1-6185-BFFD6C81F3D6}"/>
              </a:ext>
            </a:extLst>
          </p:cNvPr>
          <p:cNvSpPr txBox="1"/>
          <p:nvPr/>
        </p:nvSpPr>
        <p:spPr>
          <a:xfrm>
            <a:off x="5382747" y="6404674"/>
            <a:ext cx="661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Francisco Rivero Briseño I. F.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68CEB8-AE50-4FBE-46EC-56615198CD35}"/>
              </a:ext>
            </a:extLst>
          </p:cNvPr>
          <p:cNvSpPr txBox="1"/>
          <p:nvPr/>
        </p:nvSpPr>
        <p:spPr>
          <a:xfrm>
            <a:off x="2321161" y="4243179"/>
            <a:ext cx="98100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8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Newton-</a:t>
            </a:r>
            <a:r>
              <a:rPr lang="es-MX" sz="80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Rapson</a:t>
            </a:r>
            <a:r>
              <a:rPr lang="es-MX" sz="8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5188B51-4789-F3B1-58AA-3F27CA500DA6}"/>
              </a:ext>
            </a:extLst>
          </p:cNvPr>
          <p:cNvSpPr txBox="1"/>
          <p:nvPr/>
        </p:nvSpPr>
        <p:spPr>
          <a:xfrm>
            <a:off x="4178183" y="1467249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r">
              <a:defRPr sz="80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Método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CACC03-DDFA-6777-3EB3-FF91A893DBC4}"/>
              </a:ext>
            </a:extLst>
          </p:cNvPr>
          <p:cNvSpPr txBox="1"/>
          <p:nvPr/>
        </p:nvSpPr>
        <p:spPr>
          <a:xfrm>
            <a:off x="3111272" y="2952852"/>
            <a:ext cx="6137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r">
              <a:defRPr sz="80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de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642075-A9A1-0737-E980-532981BF99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06" r="16463" b="55711"/>
          <a:stretch>
            <a:fillRect/>
          </a:stretch>
        </p:blipFill>
        <p:spPr>
          <a:xfrm>
            <a:off x="291398" y="181109"/>
            <a:ext cx="1804593" cy="5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14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C8DF9DDE-90BD-0E48-E69C-607C181DD2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6255 w 12192000"/>
              <a:gd name="connsiteY0" fmla="*/ 138545 h 6858000"/>
              <a:gd name="connsiteX1" fmla="*/ 166255 w 12192000"/>
              <a:gd name="connsiteY1" fmla="*/ 6733309 h 6858000"/>
              <a:gd name="connsiteX2" fmla="*/ 12016509 w 12192000"/>
              <a:gd name="connsiteY2" fmla="*/ 6733309 h 6858000"/>
              <a:gd name="connsiteX3" fmla="*/ 12016509 w 12192000"/>
              <a:gd name="connsiteY3" fmla="*/ 13854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6255" y="138545"/>
                </a:moveTo>
                <a:lnTo>
                  <a:pt x="166255" y="6733309"/>
                </a:lnTo>
                <a:lnTo>
                  <a:pt x="12016509" y="6733309"/>
                </a:lnTo>
                <a:lnTo>
                  <a:pt x="12016509" y="13854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0E73A5-4255-1C8E-41F3-A7333CA46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843" y="35766"/>
            <a:ext cx="1862668" cy="175191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575732" y="485422"/>
            <a:ext cx="9177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Calcula la solución de la siguiente ecuación, con un margen de error de 0.001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4272845" y="1038177"/>
                <a:ext cx="3281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845" y="1038177"/>
                <a:ext cx="328121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4272845" y="1806375"/>
                <a:ext cx="276049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845" y="1806375"/>
                <a:ext cx="276049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/>
          <p:cNvSpPr txBox="1"/>
          <p:nvPr/>
        </p:nvSpPr>
        <p:spPr>
          <a:xfrm>
            <a:off x="575732" y="2581054"/>
            <a:ext cx="917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Proponemos el número 1 para comenzar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/>
              <p:cNvSpPr txBox="1"/>
              <p:nvPr/>
            </p:nvSpPr>
            <p:spPr>
              <a:xfrm>
                <a:off x="1779020" y="3505627"/>
                <a:ext cx="309469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+8=7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9" name="Cuadro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020" y="3505627"/>
                <a:ext cx="3094693" cy="307777"/>
              </a:xfrm>
              <a:prstGeom prst="rect">
                <a:avLst/>
              </a:prstGeom>
              <a:blipFill>
                <a:blip r:embed="rId5"/>
                <a:stretch>
                  <a:fillRect l="-1183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5104307" y="3501897"/>
                <a:ext cx="30721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MX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(1)</m:t>
                    </m:r>
                    <m:r>
                      <a:rPr lang="es-MX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s-MX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>
                        <a:latin typeface="Cambria Math" panose="02040503050406030204" pitchFamily="18" charset="0"/>
                      </a:rPr>
                      <m:t>−4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MX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s-MX" dirty="0"/>
                  <a:t> </a:t>
                </a:r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307" y="3501897"/>
                <a:ext cx="3072188" cy="307777"/>
              </a:xfrm>
              <a:prstGeom prst="rect">
                <a:avLst/>
              </a:prstGeom>
              <a:blipFill>
                <a:blip r:embed="rId6"/>
                <a:stretch>
                  <a:fillRect l="-3770" r="-198" b="-372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8147021" y="1590931"/>
                <a:ext cx="3107967" cy="911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021" y="1590931"/>
                <a:ext cx="3107967" cy="9117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8407089" y="3327547"/>
                <a:ext cx="2280240" cy="574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MX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MX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MX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089" y="3327547"/>
                <a:ext cx="2280240" cy="5741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/>
              <p:cNvSpPr txBox="1"/>
              <p:nvPr/>
            </p:nvSpPr>
            <p:spPr>
              <a:xfrm>
                <a:off x="746989" y="3505627"/>
                <a:ext cx="8014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3" name="Cuadro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989" y="3505627"/>
                <a:ext cx="801437" cy="307777"/>
              </a:xfrm>
              <a:prstGeom prst="rect">
                <a:avLst/>
              </a:prstGeom>
              <a:blipFill>
                <a:blip r:embed="rId9"/>
                <a:stretch>
                  <a:fillRect l="-3817" r="-6107" b="-196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/>
          <p:cNvSpPr txBox="1"/>
          <p:nvPr/>
        </p:nvSpPr>
        <p:spPr>
          <a:xfrm>
            <a:off x="575732" y="4360921"/>
            <a:ext cx="917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Por lo tanto tenemos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549918"/>
                  </p:ext>
                </p:extLst>
              </p:nvPr>
            </p:nvGraphicFramePr>
            <p:xfrm>
              <a:off x="2257777" y="5281764"/>
              <a:ext cx="812800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51308340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1842937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696447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192420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347664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958522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′(</m:t>
                                </m:r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𝒂𝒅𝒔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6217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-------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2894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549918"/>
                  </p:ext>
                </p:extLst>
              </p:nvPr>
            </p:nvGraphicFramePr>
            <p:xfrm>
              <a:off x="2257777" y="5281764"/>
              <a:ext cx="812800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51308340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1842937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696447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192420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347664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958522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n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100000" t="-8065" r="-400448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200901" t="-8065" r="-302252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300901" t="-8065" r="-202252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399103" t="-8065" r="-101345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10"/>
                          <a:stretch>
                            <a:fillRect l="-501351" t="-8065" r="-1802" b="-1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6217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7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-1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8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-------</a:t>
                          </a:r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2894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C30D6F40-0875-338F-A8C4-C6530EE7A5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374753" y="35766"/>
            <a:ext cx="6529417" cy="614118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4650521A-53E5-9698-CB14-1D4A0F941025}"/>
              </a:ext>
            </a:extLst>
          </p:cNvPr>
          <p:cNvSpPr txBox="1"/>
          <p:nvPr/>
        </p:nvSpPr>
        <p:spPr>
          <a:xfrm>
            <a:off x="5382747" y="6404674"/>
            <a:ext cx="661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Francisco Rivero Briseño I. F.</a:t>
            </a:r>
          </a:p>
        </p:txBody>
      </p:sp>
    </p:spTree>
    <p:extLst>
      <p:ext uri="{BB962C8B-B14F-4D97-AF65-F5344CB8AC3E}">
        <p14:creationId xmlns:p14="http://schemas.microsoft.com/office/powerpoint/2010/main" val="175194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E9D8924-2788-C482-A9AD-95FA75EC0F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733922" y="367645"/>
            <a:ext cx="6529417" cy="614118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575732" y="485422"/>
            <a:ext cx="9177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Calcula la solución de la siguiente ecuación, con un margen de error de 0.001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4272845" y="1038177"/>
                <a:ext cx="3281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845" y="1038177"/>
                <a:ext cx="328121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1066801" y="1831349"/>
                <a:ext cx="276049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1" y="1831349"/>
                <a:ext cx="276049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6961688" y="1590930"/>
                <a:ext cx="3107967" cy="911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688" y="1590930"/>
                <a:ext cx="3107967" cy="911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606735"/>
                  </p:ext>
                </p:extLst>
              </p:nvPr>
            </p:nvGraphicFramePr>
            <p:xfrm>
              <a:off x="1849453" y="3017584"/>
              <a:ext cx="812800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51308340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1842937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696447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192420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347664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958522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′(</m:t>
                                </m:r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𝒂𝒅𝒔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6217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-------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2894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606735"/>
                  </p:ext>
                </p:extLst>
              </p:nvPr>
            </p:nvGraphicFramePr>
            <p:xfrm>
              <a:off x="1849453" y="3017584"/>
              <a:ext cx="812800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51308340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1842937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696447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192420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347664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958522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n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8197" r="-40044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200901" t="-8197" r="-30225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300901" t="-8197" r="-20225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399103" t="-8197" r="-10134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501351" t="-8197" r="-180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6217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7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-1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8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-------</a:t>
                          </a:r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28948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Conector recto de flecha 2"/>
          <p:cNvCxnSpPr>
            <a:endCxn id="16" idx="3"/>
          </p:cNvCxnSpPr>
          <p:nvPr/>
        </p:nvCxnSpPr>
        <p:spPr>
          <a:xfrm flipH="1">
            <a:off x="3983753" y="3680178"/>
            <a:ext cx="3570311" cy="409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ángulo 7"/>
          <p:cNvSpPr/>
          <p:nvPr/>
        </p:nvSpPr>
        <p:spPr>
          <a:xfrm>
            <a:off x="2357937" y="3904862"/>
            <a:ext cx="3129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dirty="0"/>
              <a:t>2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3670847" y="390486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dirty="0"/>
              <a:t>8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4879972" y="3905948"/>
            <a:ext cx="569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dirty="0"/>
              <a:t>392</a:t>
            </a:r>
          </a:p>
        </p:txBody>
      </p:sp>
      <p:sp>
        <p:nvSpPr>
          <p:cNvPr id="18" name="Rectángulo 17"/>
          <p:cNvSpPr/>
          <p:nvPr/>
        </p:nvSpPr>
        <p:spPr>
          <a:xfrm>
            <a:off x="6217338" y="3904862"/>
            <a:ext cx="569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dirty="0"/>
              <a:t>160</a:t>
            </a:r>
          </a:p>
        </p:txBody>
      </p:sp>
      <p:sp>
        <p:nvSpPr>
          <p:cNvPr id="19" name="Rectángulo 18"/>
          <p:cNvSpPr/>
          <p:nvPr/>
        </p:nvSpPr>
        <p:spPr>
          <a:xfrm>
            <a:off x="7554064" y="3904862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dirty="0"/>
              <a:t>5.55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8954909" y="3904862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dirty="0"/>
              <a:t>2.45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9830533" y="3687172"/>
            <a:ext cx="1977645" cy="923330"/>
          </a:xfrm>
          <a:prstGeom prst="leftArrowCallou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Este no es menos a 0.001</a:t>
            </a:r>
          </a:p>
        </p:txBody>
      </p:sp>
      <p:sp>
        <p:nvSpPr>
          <p:cNvPr id="23" name="Rectángulo 22"/>
          <p:cNvSpPr/>
          <p:nvPr/>
        </p:nvSpPr>
        <p:spPr>
          <a:xfrm>
            <a:off x="2357936" y="4419792"/>
            <a:ext cx="3129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dirty="0"/>
              <a:t>3</a:t>
            </a:r>
          </a:p>
        </p:txBody>
      </p:sp>
      <p:cxnSp>
        <p:nvCxnSpPr>
          <p:cNvPr id="24" name="Conector recto de flecha 23"/>
          <p:cNvCxnSpPr/>
          <p:nvPr/>
        </p:nvCxnSpPr>
        <p:spPr>
          <a:xfrm flipH="1">
            <a:off x="4042897" y="4105262"/>
            <a:ext cx="3570311" cy="409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ángulo 24"/>
          <p:cNvSpPr/>
          <p:nvPr/>
        </p:nvSpPr>
        <p:spPr>
          <a:xfrm>
            <a:off x="3551584" y="4419792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dirty="0"/>
              <a:t>5.55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D5C24231-EA41-087E-31F4-73B8BC9BC80C}"/>
              </a:ext>
            </a:extLst>
          </p:cNvPr>
          <p:cNvSpPr/>
          <p:nvPr/>
        </p:nvSpPr>
        <p:spPr>
          <a:xfrm>
            <a:off x="0" y="9236"/>
            <a:ext cx="12192000" cy="6858000"/>
          </a:xfrm>
          <a:custGeom>
            <a:avLst/>
            <a:gdLst>
              <a:gd name="connsiteX0" fmla="*/ 166255 w 12192000"/>
              <a:gd name="connsiteY0" fmla="*/ 138545 h 6858000"/>
              <a:gd name="connsiteX1" fmla="*/ 166255 w 12192000"/>
              <a:gd name="connsiteY1" fmla="*/ 6733309 h 6858000"/>
              <a:gd name="connsiteX2" fmla="*/ 12016509 w 12192000"/>
              <a:gd name="connsiteY2" fmla="*/ 6733309 h 6858000"/>
              <a:gd name="connsiteX3" fmla="*/ 12016509 w 12192000"/>
              <a:gd name="connsiteY3" fmla="*/ 13854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6255" y="138545"/>
                </a:moveTo>
                <a:lnTo>
                  <a:pt x="166255" y="6733309"/>
                </a:lnTo>
                <a:lnTo>
                  <a:pt x="12016509" y="6733309"/>
                </a:lnTo>
                <a:lnTo>
                  <a:pt x="12016509" y="13854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F6C3A94-445E-AF79-0761-FDB72837B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843" y="45002"/>
            <a:ext cx="1862668" cy="175191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A97D27A-5C94-A3F0-7815-7B64C4336F4E}"/>
              </a:ext>
            </a:extLst>
          </p:cNvPr>
          <p:cNvSpPr txBox="1"/>
          <p:nvPr/>
        </p:nvSpPr>
        <p:spPr>
          <a:xfrm>
            <a:off x="5382747" y="6404674"/>
            <a:ext cx="661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Francisco Rivero Briseño I. F.</a:t>
            </a:r>
          </a:p>
        </p:txBody>
      </p:sp>
    </p:spTree>
    <p:extLst>
      <p:ext uri="{BB962C8B-B14F-4D97-AF65-F5344CB8AC3E}">
        <p14:creationId xmlns:p14="http://schemas.microsoft.com/office/powerpoint/2010/main" val="279780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  <p:bldP spid="18" grpId="0"/>
      <p:bldP spid="19" grpId="0"/>
      <p:bldP spid="20" grpId="0"/>
      <p:bldP spid="22" grpId="0" animBg="1"/>
      <p:bldP spid="23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AF0763B-AE92-838C-FBFC-824887FA9F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733922" y="367645"/>
            <a:ext cx="6529417" cy="614118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575732" y="485422"/>
            <a:ext cx="9177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Calcula la solución de la siguiente ecuación, con un margen de error de 0.001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4272845" y="1038177"/>
                <a:ext cx="3281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845" y="1038177"/>
                <a:ext cx="328121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1066801" y="1831349"/>
                <a:ext cx="276049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1" y="1831349"/>
                <a:ext cx="276049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6961688" y="1590930"/>
                <a:ext cx="3107967" cy="911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688" y="1590930"/>
                <a:ext cx="3107967" cy="911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2977289"/>
                  </p:ext>
                </p:extLst>
              </p:nvPr>
            </p:nvGraphicFramePr>
            <p:xfrm>
              <a:off x="1849453" y="3017584"/>
              <a:ext cx="8128002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51308340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1842937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696447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192420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347664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958522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′(</m:t>
                                </m:r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𝒂𝒅𝒔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6217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/>
                            <a:t>-------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289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5.55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2.45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9431858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5.55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117.348875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70.2075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3.87854218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1.67145782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4965388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2977289"/>
                  </p:ext>
                </p:extLst>
              </p:nvPr>
            </p:nvGraphicFramePr>
            <p:xfrm>
              <a:off x="1849453" y="3017584"/>
              <a:ext cx="8128002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51308340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1842937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696447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192420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347664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958522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n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8197" r="-400448" b="-337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200901" t="-8197" r="-302252" b="-337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300901" t="-8197" r="-202252" b="-337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399103" t="-8197" r="-101345" b="-337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6"/>
                          <a:stretch>
                            <a:fillRect l="-501351" t="-8197" r="-1802" b="-3377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6217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1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7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-1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8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dirty="0" smtClean="0"/>
                            <a:t>-------</a:t>
                          </a:r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289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5.55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2.45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9431858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5.55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117.348875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70.2075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3.87854218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1.67145782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4965388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02AFF443-ECD7-AF13-4D7E-FC7D66EF56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6255 w 12192000"/>
              <a:gd name="connsiteY0" fmla="*/ 138545 h 6858000"/>
              <a:gd name="connsiteX1" fmla="*/ 166255 w 12192000"/>
              <a:gd name="connsiteY1" fmla="*/ 6733309 h 6858000"/>
              <a:gd name="connsiteX2" fmla="*/ 12016509 w 12192000"/>
              <a:gd name="connsiteY2" fmla="*/ 6733309 h 6858000"/>
              <a:gd name="connsiteX3" fmla="*/ 12016509 w 12192000"/>
              <a:gd name="connsiteY3" fmla="*/ 13854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6255" y="138545"/>
                </a:moveTo>
                <a:lnTo>
                  <a:pt x="166255" y="6733309"/>
                </a:lnTo>
                <a:lnTo>
                  <a:pt x="12016509" y="6733309"/>
                </a:lnTo>
                <a:lnTo>
                  <a:pt x="12016509" y="13854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20B805-3DC6-9ABC-85C9-6D98EF48E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843" y="35766"/>
            <a:ext cx="1862668" cy="175191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2DA0BFB-FFA6-1688-22A5-3EAAF1973B72}"/>
              </a:ext>
            </a:extLst>
          </p:cNvPr>
          <p:cNvSpPr txBox="1"/>
          <p:nvPr/>
        </p:nvSpPr>
        <p:spPr>
          <a:xfrm>
            <a:off x="5382747" y="6404674"/>
            <a:ext cx="661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Francisco Rivero Briseño I. F.</a:t>
            </a:r>
          </a:p>
        </p:txBody>
      </p:sp>
    </p:spTree>
    <p:extLst>
      <p:ext uri="{BB962C8B-B14F-4D97-AF65-F5344CB8AC3E}">
        <p14:creationId xmlns:p14="http://schemas.microsoft.com/office/powerpoint/2010/main" val="153149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3569B87-AAFE-3966-8B78-B6578B781E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2957264" y="229940"/>
            <a:ext cx="6529417" cy="614118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38665" y="115745"/>
            <a:ext cx="9177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Calcula la solución de la siguiente ecuación, con un margen de error de 0.001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2511778" y="515855"/>
                <a:ext cx="3281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778" y="515855"/>
                <a:ext cx="328121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4579775"/>
                  </p:ext>
                </p:extLst>
              </p:nvPr>
            </p:nvGraphicFramePr>
            <p:xfrm>
              <a:off x="88386" y="946742"/>
              <a:ext cx="8128002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51308340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1842937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696447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192420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347664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958522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′(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</a:rPr>
                                      <m:t>𝒂𝒅𝒔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6217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-------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289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5.55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2.45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9431858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5.55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117.348875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70.2075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3.87854218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1.67145782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496538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3.878542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36.259078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29.615100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2.654198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1.224344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7125987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2.654198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12.608671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10.517508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1.455371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1.198827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3861918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1.455371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6.846419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0.532830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-11.393787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12.849158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7759136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-11.393787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-1730.759726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435.030289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-7.415306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3.978481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1948370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-7.415306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-509.717191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194.621511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-4.796288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2.619018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72519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-4.796288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-148.344400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88.198294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-3.114346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1.681942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7968559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-3.114346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-41.604830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41.554846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-2.113144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1.001203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503078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-2.113144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-10.366731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21.848701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-1.638665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0.474478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435411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-1.638665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-1.770633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14.610335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-1.517475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0.121190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210765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-1.517475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-0.099796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12.978091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-1.509785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0.007690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088389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-1.509785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-0.000387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12.877497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-1.509755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0.000030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1033248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4579775"/>
                  </p:ext>
                </p:extLst>
              </p:nvPr>
            </p:nvGraphicFramePr>
            <p:xfrm>
              <a:off x="88386" y="946742"/>
              <a:ext cx="8128002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51308340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91842937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696447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192420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3476645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958522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600" dirty="0" smtClean="0"/>
                            <a:t>n</a:t>
                          </a:r>
                          <a:endParaRPr lang="es-MX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918" r="-400448" b="-1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200901" t="-4918" r="-302252" b="-1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300901" t="-4918" r="-202252" b="-1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399103" t="-4918" r="-101345" b="-1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501351" t="-4918" r="-1802" b="-14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6217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s-MX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s-MX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  <a:endParaRPr lang="es-MX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endParaRPr lang="es-MX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es-MX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-------</a:t>
                          </a:r>
                          <a:endParaRPr lang="es-MX" sz="1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32894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5.55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2.45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9431858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5.55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117.348875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70.2075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3.87854218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1.67145782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496538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3.878542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36.259078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29.615100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2.654198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1.224344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7125987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2.654198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12.608671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10.517508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1.455371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1.198827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3861918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1.455371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6.846419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0.532830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-11.393787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12.849158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7759136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-11.393787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-1730.759726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435.030289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-7.415306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3.978481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1948370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-7.415306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-509.717191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194.621511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-4.796288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2.619018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72519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-4.796288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-148.344400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88.198294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-3.114346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1.681942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7968559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-3.114346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-41.604830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41.554846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-2.113144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1.001203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503078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-2.113144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-10.366731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21.848701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-1.638665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0.474478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435411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-1.638665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-1.770633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14.610335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-1.517475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0.121190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210765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-1.517475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-0.099796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12.978091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-1.509785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0.007690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0883897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-1.509785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-0.000387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12.877497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-1.509755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MX" sz="1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0.000030</a:t>
                          </a: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1033248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Elipse 1"/>
          <p:cNvSpPr/>
          <p:nvPr/>
        </p:nvSpPr>
        <p:spPr>
          <a:xfrm>
            <a:off x="5542844" y="6175022"/>
            <a:ext cx="1207912" cy="4402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/>
          <p:cNvSpPr txBox="1"/>
          <p:nvPr/>
        </p:nvSpPr>
        <p:spPr>
          <a:xfrm>
            <a:off x="8216388" y="6395155"/>
            <a:ext cx="1512711" cy="4086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Solución</a:t>
            </a:r>
          </a:p>
        </p:txBody>
      </p:sp>
      <p:cxnSp>
        <p:nvCxnSpPr>
          <p:cNvPr id="8" name="Conector recto de flecha 7"/>
          <p:cNvCxnSpPr>
            <a:stCxn id="3" idx="1"/>
            <a:endCxn id="2" idx="6"/>
          </p:cNvCxnSpPr>
          <p:nvPr/>
        </p:nvCxnSpPr>
        <p:spPr>
          <a:xfrm flipH="1" flipV="1">
            <a:off x="6750756" y="6395156"/>
            <a:ext cx="1465632" cy="2043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Imagen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584" y="731298"/>
            <a:ext cx="3753069" cy="4837289"/>
          </a:xfrm>
          <a:prstGeom prst="rect">
            <a:avLst/>
          </a:prstGeom>
        </p:spPr>
      </p:pic>
      <p:sp>
        <p:nvSpPr>
          <p:cNvPr id="16" name="Elipse 15"/>
          <p:cNvSpPr/>
          <p:nvPr/>
        </p:nvSpPr>
        <p:spPr>
          <a:xfrm>
            <a:off x="9516533" y="4222044"/>
            <a:ext cx="316089" cy="3386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8" name="Conector recto de flecha 17"/>
          <p:cNvCxnSpPr>
            <a:stCxn id="3" idx="0"/>
            <a:endCxn id="16" idx="4"/>
          </p:cNvCxnSpPr>
          <p:nvPr/>
        </p:nvCxnSpPr>
        <p:spPr>
          <a:xfrm flipV="1">
            <a:off x="8972744" y="4560711"/>
            <a:ext cx="701834" cy="18344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0C605680-92AD-F289-5235-8E67EB3741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6255 w 12192000"/>
              <a:gd name="connsiteY0" fmla="*/ 138545 h 6858000"/>
              <a:gd name="connsiteX1" fmla="*/ 166255 w 12192000"/>
              <a:gd name="connsiteY1" fmla="*/ 6733309 h 6858000"/>
              <a:gd name="connsiteX2" fmla="*/ 12016509 w 12192000"/>
              <a:gd name="connsiteY2" fmla="*/ 6733309 h 6858000"/>
              <a:gd name="connsiteX3" fmla="*/ 12016509 w 12192000"/>
              <a:gd name="connsiteY3" fmla="*/ 13854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6255" y="138545"/>
                </a:moveTo>
                <a:lnTo>
                  <a:pt x="166255" y="6733309"/>
                </a:lnTo>
                <a:lnTo>
                  <a:pt x="12016509" y="6733309"/>
                </a:lnTo>
                <a:lnTo>
                  <a:pt x="12016509" y="13854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F0549B-85FD-B237-2094-FF38FCB1C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843" y="35766"/>
            <a:ext cx="1862668" cy="175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3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EDB0C05-07B4-0DAA-687A-838BAFB940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6255 w 12192000"/>
              <a:gd name="connsiteY0" fmla="*/ 138545 h 6858000"/>
              <a:gd name="connsiteX1" fmla="*/ 166255 w 12192000"/>
              <a:gd name="connsiteY1" fmla="*/ 6733309 h 6858000"/>
              <a:gd name="connsiteX2" fmla="*/ 12016509 w 12192000"/>
              <a:gd name="connsiteY2" fmla="*/ 6733309 h 6858000"/>
              <a:gd name="connsiteX3" fmla="*/ 12016509 w 12192000"/>
              <a:gd name="connsiteY3" fmla="*/ 13854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6255" y="138545"/>
                </a:moveTo>
                <a:lnTo>
                  <a:pt x="166255" y="6733309"/>
                </a:lnTo>
                <a:lnTo>
                  <a:pt x="12016509" y="6733309"/>
                </a:lnTo>
                <a:lnTo>
                  <a:pt x="12016509" y="13854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BCB6A5-38EA-485D-B76E-122210CC3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843" y="35766"/>
            <a:ext cx="1862668" cy="175191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9960955-2B6F-F7DF-0228-5F9986F919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2831291" y="358409"/>
            <a:ext cx="6529417" cy="614118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925AC6A-6A64-44E5-FA39-A606DA2071A3}"/>
              </a:ext>
            </a:extLst>
          </p:cNvPr>
          <p:cNvSpPr txBox="1"/>
          <p:nvPr/>
        </p:nvSpPr>
        <p:spPr>
          <a:xfrm>
            <a:off x="5382747" y="6404674"/>
            <a:ext cx="661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Francisco Rivero Briseño I. F.</a:t>
            </a:r>
          </a:p>
        </p:txBody>
      </p:sp>
    </p:spTree>
    <p:extLst>
      <p:ext uri="{BB962C8B-B14F-4D97-AF65-F5344CB8AC3E}">
        <p14:creationId xmlns:p14="http://schemas.microsoft.com/office/powerpoint/2010/main" val="3670337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FB8C50-C1F4-3931-9D79-DCB0C6FED2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733922" y="367645"/>
            <a:ext cx="6529417" cy="614118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3001" y="2083638"/>
            <a:ext cx="9905998" cy="1323439"/>
          </a:xfr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s-MX" sz="8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Gracias 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5382747" y="6404674"/>
            <a:ext cx="661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Francisco Rivero Briseño I. F.</a:t>
            </a:r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378B6968-CEB8-F1E4-6AFD-A3DAC4FDC6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6255 w 12192000"/>
              <a:gd name="connsiteY0" fmla="*/ 138545 h 6858000"/>
              <a:gd name="connsiteX1" fmla="*/ 166255 w 12192000"/>
              <a:gd name="connsiteY1" fmla="*/ 6733309 h 6858000"/>
              <a:gd name="connsiteX2" fmla="*/ 12016509 w 12192000"/>
              <a:gd name="connsiteY2" fmla="*/ 6733309 h 6858000"/>
              <a:gd name="connsiteX3" fmla="*/ 12016509 w 12192000"/>
              <a:gd name="connsiteY3" fmla="*/ 13854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6255" y="138545"/>
                </a:moveTo>
                <a:lnTo>
                  <a:pt x="166255" y="6733309"/>
                </a:lnTo>
                <a:lnTo>
                  <a:pt x="12016509" y="6733309"/>
                </a:lnTo>
                <a:lnTo>
                  <a:pt x="12016509" y="13854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C955F6-763A-E1A9-A03A-205BF09ED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843" y="35766"/>
            <a:ext cx="1862668" cy="175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40823"/>
      </p:ext>
    </p:extLst>
  </p:cSld>
  <p:clrMapOvr>
    <a:masterClrMapping/>
  </p:clrMapOvr>
</p:sld>
</file>

<file path=ppt/theme/theme1.xml><?xml version="1.0" encoding="utf-8"?>
<a:theme xmlns:a="http://schemas.openxmlformats.org/drawingml/2006/main" name="my tema_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 tema_2" id="{5877F901-AA97-4681-BE3D-DB8A8D59389A}" vid="{2425552F-47CB-43ED-A797-C9A7379953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 tema_2</Template>
  <TotalTime>82</TotalTime>
  <Words>460</Words>
  <Application>Microsoft Office PowerPoint</Application>
  <PresentationFormat>Panorámica</PresentationFormat>
  <Paragraphs>185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my tema_2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STARS-</dc:creator>
  <cp:lastModifiedBy>Francisco Rivero Briseno</cp:lastModifiedBy>
  <cp:revision>10</cp:revision>
  <dcterms:created xsi:type="dcterms:W3CDTF">2021-05-06T14:05:46Z</dcterms:created>
  <dcterms:modified xsi:type="dcterms:W3CDTF">2025-06-05T17:02:47Z</dcterms:modified>
</cp:coreProperties>
</file>